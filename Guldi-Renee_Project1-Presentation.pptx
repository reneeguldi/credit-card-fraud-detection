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Chakra Petch Medium"/>
      <p:regular r:id="rId16"/>
      <p:bold r:id="rId17"/>
      <p:italic r:id="rId18"/>
      <p:boldItalic r:id="rId19"/>
    </p:embeddedFont>
    <p:embeddedFont>
      <p:font typeface="Teko"/>
      <p:regular r:id="rId20"/>
      <p:bold r:id="rId21"/>
    </p:embeddedFont>
    <p:embeddedFont>
      <p:font typeface="Proxima Nova"/>
      <p:regular r:id="rId22"/>
      <p:bold r:id="rId23"/>
      <p:italic r:id="rId24"/>
      <p:boldItalic r:id="rId25"/>
    </p:embeddedFont>
    <p:embeddedFont>
      <p:font typeface="Proxima Nova Semibold"/>
      <p:regular r:id="rId26"/>
      <p:bold r:id="rId27"/>
      <p:boldItalic r:id="rId28"/>
    </p:embeddedFont>
    <p:embeddedFont>
      <p:font typeface="Chakra Petch SemiBold"/>
      <p:regular r:id="rId29"/>
      <p:bold r:id="rId30"/>
      <p:italic r:id="rId31"/>
      <p:boldItalic r:id="rId32"/>
    </p:embeddedFont>
    <p:embeddedFont>
      <p:font typeface="Chakra Petch"/>
      <p:regular r:id="rId33"/>
      <p:bold r:id="rId34"/>
      <p:italic r:id="rId35"/>
      <p:boldItalic r:id="rId36"/>
    </p:embeddedFont>
    <p:embeddedFont>
      <p:font typeface="Teko Medium"/>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Teko-regular.fntdata"/><Relationship Id="rId22" Type="http://schemas.openxmlformats.org/officeDocument/2006/relationships/font" Target="fonts/ProximaNova-regular.fntdata"/><Relationship Id="rId21" Type="http://schemas.openxmlformats.org/officeDocument/2006/relationships/font" Target="fonts/Teko-bold.fntdata"/><Relationship Id="rId24" Type="http://schemas.openxmlformats.org/officeDocument/2006/relationships/font" Target="fonts/ProximaNova-italic.fntdata"/><Relationship Id="rId23" Type="http://schemas.openxmlformats.org/officeDocument/2006/relationships/font" Target="fonts/ProximaNov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Semibold-regular.fntdata"/><Relationship Id="rId25" Type="http://schemas.openxmlformats.org/officeDocument/2006/relationships/font" Target="fonts/ProximaNova-boldItalic.fntdata"/><Relationship Id="rId28" Type="http://schemas.openxmlformats.org/officeDocument/2006/relationships/font" Target="fonts/ProximaNovaSemibold-boldItalic.fntdata"/><Relationship Id="rId27" Type="http://schemas.openxmlformats.org/officeDocument/2006/relationships/font" Target="fonts/ProximaNovaSemibol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hakraPetch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hakraPetchSemiBold-italic.fntdata"/><Relationship Id="rId30" Type="http://schemas.openxmlformats.org/officeDocument/2006/relationships/font" Target="fonts/ChakraPetchSemiBold-bold.fntdata"/><Relationship Id="rId11" Type="http://schemas.openxmlformats.org/officeDocument/2006/relationships/slide" Target="slides/slide6.xml"/><Relationship Id="rId33" Type="http://schemas.openxmlformats.org/officeDocument/2006/relationships/font" Target="fonts/ChakraPetch-regular.fntdata"/><Relationship Id="rId10" Type="http://schemas.openxmlformats.org/officeDocument/2006/relationships/slide" Target="slides/slide5.xml"/><Relationship Id="rId32" Type="http://schemas.openxmlformats.org/officeDocument/2006/relationships/font" Target="fonts/ChakraPetchSemiBold-boldItalic.fntdata"/><Relationship Id="rId13" Type="http://schemas.openxmlformats.org/officeDocument/2006/relationships/slide" Target="slides/slide8.xml"/><Relationship Id="rId35" Type="http://schemas.openxmlformats.org/officeDocument/2006/relationships/font" Target="fonts/ChakraPetch-italic.fntdata"/><Relationship Id="rId12" Type="http://schemas.openxmlformats.org/officeDocument/2006/relationships/slide" Target="slides/slide7.xml"/><Relationship Id="rId34" Type="http://schemas.openxmlformats.org/officeDocument/2006/relationships/font" Target="fonts/ChakraPetch-bold.fntdata"/><Relationship Id="rId15" Type="http://schemas.openxmlformats.org/officeDocument/2006/relationships/slide" Target="slides/slide10.xml"/><Relationship Id="rId37" Type="http://schemas.openxmlformats.org/officeDocument/2006/relationships/font" Target="fonts/TekoMedium-regular.fntdata"/><Relationship Id="rId14" Type="http://schemas.openxmlformats.org/officeDocument/2006/relationships/slide" Target="slides/slide9.xml"/><Relationship Id="rId36" Type="http://schemas.openxmlformats.org/officeDocument/2006/relationships/font" Target="fonts/ChakraPetch-boldItalic.fntdata"/><Relationship Id="rId17" Type="http://schemas.openxmlformats.org/officeDocument/2006/relationships/font" Target="fonts/ChakraPetchMedium-bold.fntdata"/><Relationship Id="rId16" Type="http://schemas.openxmlformats.org/officeDocument/2006/relationships/font" Target="fonts/ChakraPetchMedium-regular.fntdata"/><Relationship Id="rId38" Type="http://schemas.openxmlformats.org/officeDocument/2006/relationships/font" Target="fonts/TekoMedium-bold.fntdata"/><Relationship Id="rId19" Type="http://schemas.openxmlformats.org/officeDocument/2006/relationships/font" Target="fonts/ChakraPetchMedium-boldItalic.fntdata"/><Relationship Id="rId18" Type="http://schemas.openxmlformats.org/officeDocument/2006/relationships/font" Target="fonts/ChakraPetch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c5bfc59c96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g3c5bfc59c9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5bfc59c96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g3c5bfc59c96_0_2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goal of my project was to try and accurately detect </a:t>
            </a:r>
            <a:r>
              <a:rPr lang="en"/>
              <a:t>fraudulent</a:t>
            </a:r>
            <a:r>
              <a:rPr lang="en"/>
              <a:t> credit card transactions. This is important because fraud can lead to significant financial losses, and manual detection through thousands of lines of data is difficult. Machine Learning can help us automate this process by identifying patterns in transaction data.</a:t>
            </a:r>
            <a:endParaRPr/>
          </a:p>
        </p:txBody>
      </p:sp>
      <p:sp>
        <p:nvSpPr>
          <p:cNvPr id="65" name="Google Shape;65;g3c5bfc59c96_0_2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5bfc59c96_0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g3c5bfc59c96_0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dataset that I used was a real-world list of transactions made by credit cardholders in 2013 by European cardholders. The target variable indicates whether a transaction is </a:t>
            </a:r>
            <a:r>
              <a:rPr lang="en"/>
              <a:t>fraudulent</a:t>
            </a:r>
            <a:r>
              <a:rPr lang="en"/>
              <a:t> or not. One of the </a:t>
            </a:r>
            <a:r>
              <a:rPr lang="en"/>
              <a:t>biggest</a:t>
            </a:r>
            <a:r>
              <a:rPr lang="en"/>
              <a:t> challenges was that in the dataset’s descriptions was that fraud only makes up about 0.17% of the data, making it </a:t>
            </a:r>
            <a:r>
              <a:rPr lang="en"/>
              <a:t>largely</a:t>
            </a:r>
            <a:r>
              <a:rPr lang="en"/>
              <a:t> </a:t>
            </a:r>
            <a:r>
              <a:rPr lang="en"/>
              <a:t>imbalanced. </a:t>
            </a:r>
            <a:endParaRPr/>
          </a:p>
        </p:txBody>
      </p:sp>
      <p:sp>
        <p:nvSpPr>
          <p:cNvPr id="81" name="Google Shape;81;g3c5bfc59c96_0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5bfc59c96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g3c5bfc59c96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 started by separating the features from the target variable, then split the data into training and testing sets using an 80/20 split. I also applied feature scaling using a standard scaler to normalize the data, which helps improve the overall model performance. Finally, the data was then converted into PyTorch Tensors for training.</a:t>
            </a:r>
            <a:endParaRPr/>
          </a:p>
        </p:txBody>
      </p:sp>
      <p:sp>
        <p:nvSpPr>
          <p:cNvPr id="94" name="Google Shape;94;g3c5bfc59c96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5bfc59c96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c5bfc59c96_0_2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 implemented two models, with the first being Logistic Regression, which is a simple linear classifier used for binary classification. The second is a neural network with two hidden layers, which I used to have it learn more complex patterns within the data.</a:t>
            </a:r>
            <a:endParaRPr/>
          </a:p>
        </p:txBody>
      </p:sp>
      <p:sp>
        <p:nvSpPr>
          <p:cNvPr id="106" name="Google Shape;106;g3c5bfc59c96_0_2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5bfc59c96_0_2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c5bfc59c96_0_2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Both Models were trained using gradient descent. During each training set, the model is set to make predictions, computes the loss, and updates its parameters using backpropagation. The Neural Network Model was trained using a mini-batch gradient descent, while the Logistic Regression was trained using full-batch updates. </a:t>
            </a:r>
            <a:endParaRPr/>
          </a:p>
        </p:txBody>
      </p:sp>
      <p:sp>
        <p:nvSpPr>
          <p:cNvPr id="134" name="Google Shape;134;g3c5bfc59c96_0_2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5bfc59c96_0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c5bfc59c96_0_3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graph shows the overall training loss for the logistic regression model over time. The loss decreases steadily, </a:t>
            </a:r>
            <a:r>
              <a:rPr lang="en"/>
              <a:t>which indicates that the model is learning and improving its predictions. However, since the dataset is already highly imbalanced, a decreasing loss does not necessarily mean the model is good at detecting fraud.</a:t>
            </a:r>
            <a:endParaRPr/>
          </a:p>
        </p:txBody>
      </p:sp>
      <p:sp>
        <p:nvSpPr>
          <p:cNvPr id="146" name="Google Shape;146;g3c5bfc59c96_0_3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5bfc59c96_0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c5bfc59c96_0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graph shows the neural network </a:t>
            </a:r>
            <a:r>
              <a:rPr lang="en"/>
              <a:t>training</a:t>
            </a:r>
            <a:r>
              <a:rPr lang="en"/>
              <a:t> loss. Similar to logistic regression, the loss decreases rapidly and then stabilizes, indicating that the model is converging. The Neural network model is able to learn more complex relationships compared to the logistic regression model.</a:t>
            </a:r>
            <a:endParaRPr/>
          </a:p>
        </p:txBody>
      </p:sp>
      <p:sp>
        <p:nvSpPr>
          <p:cNvPr id="157" name="Google Shape;157;g3c5bfc59c96_0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5bfc59c96_0_3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3c5bfc59c96_0_3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Neural network </a:t>
            </a:r>
            <a:r>
              <a:rPr lang="en"/>
              <a:t>achieved</a:t>
            </a:r>
            <a:r>
              <a:rPr lang="en"/>
              <a:t> very high accuracy overall, but since there is a drastic class imbalance, accuracy alone is not sufficient. Precision shows how often  predicted fraud cases are correct, and recall shows how many actual fraud cases were detected. The F1 score balances both metrics, giving a better overall evaluation of the data.</a:t>
            </a:r>
            <a:endParaRPr/>
          </a:p>
        </p:txBody>
      </p:sp>
      <p:sp>
        <p:nvSpPr>
          <p:cNvPr id="168" name="Google Shape;168;g3c5bfc59c96_0_3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5bfc59c96_0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c5bfc59c96_0_3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 conclusion, both models were able to learn from the data, but the neural network performed better at capturing complex patterns within the information. However the class imbalance remains a major challenge, so I primarily focused on precision, recall, and F1 score rather than accuracy, and where future improvements could use techniques like oversampling fraud cases or adjusting classification thresholds. </a:t>
            </a:r>
            <a:endParaRPr/>
          </a:p>
        </p:txBody>
      </p:sp>
      <p:sp>
        <p:nvSpPr>
          <p:cNvPr id="179" name="Google Shape;179;g3c5bfc59c96_0_3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2">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_3">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Chakra Petch SemiBold"/>
              <a:buNone/>
              <a:defRPr sz="2800">
                <a:solidFill>
                  <a:schemeClr val="dk1"/>
                </a:solidFill>
                <a:latin typeface="Chakra Petch SemiBold"/>
                <a:ea typeface="Chakra Petch SemiBold"/>
                <a:cs typeface="Chakra Petch SemiBold"/>
                <a:sym typeface="Chakra Petch SemiBold"/>
              </a:defRPr>
            </a:lvl1pPr>
            <a:lvl2pPr lvl="1">
              <a:spcBef>
                <a:spcPts val="0"/>
              </a:spcBef>
              <a:spcAft>
                <a:spcPts val="0"/>
              </a:spcAft>
              <a:buClr>
                <a:schemeClr val="dk1"/>
              </a:buClr>
              <a:buSzPts val="2800"/>
              <a:buFont typeface="Chakra Petch"/>
              <a:buNone/>
              <a:defRPr sz="2800">
                <a:solidFill>
                  <a:schemeClr val="dk1"/>
                </a:solidFill>
                <a:latin typeface="Chakra Petch"/>
                <a:ea typeface="Chakra Petch"/>
                <a:cs typeface="Chakra Petch"/>
                <a:sym typeface="Chakra Petch"/>
              </a:defRPr>
            </a:lvl2pPr>
            <a:lvl3pPr lvl="2">
              <a:spcBef>
                <a:spcPts val="0"/>
              </a:spcBef>
              <a:spcAft>
                <a:spcPts val="0"/>
              </a:spcAft>
              <a:buClr>
                <a:schemeClr val="dk1"/>
              </a:buClr>
              <a:buSzPts val="2800"/>
              <a:buFont typeface="Chakra Petch"/>
              <a:buNone/>
              <a:defRPr sz="2800">
                <a:solidFill>
                  <a:schemeClr val="dk1"/>
                </a:solidFill>
                <a:latin typeface="Chakra Petch"/>
                <a:ea typeface="Chakra Petch"/>
                <a:cs typeface="Chakra Petch"/>
                <a:sym typeface="Chakra Petch"/>
              </a:defRPr>
            </a:lvl3pPr>
            <a:lvl4pPr lvl="3">
              <a:spcBef>
                <a:spcPts val="0"/>
              </a:spcBef>
              <a:spcAft>
                <a:spcPts val="0"/>
              </a:spcAft>
              <a:buClr>
                <a:schemeClr val="dk1"/>
              </a:buClr>
              <a:buSzPts val="2800"/>
              <a:buFont typeface="Chakra Petch"/>
              <a:buNone/>
              <a:defRPr sz="2800">
                <a:solidFill>
                  <a:schemeClr val="dk1"/>
                </a:solidFill>
                <a:latin typeface="Chakra Petch"/>
                <a:ea typeface="Chakra Petch"/>
                <a:cs typeface="Chakra Petch"/>
                <a:sym typeface="Chakra Petch"/>
              </a:defRPr>
            </a:lvl4pPr>
            <a:lvl5pPr lvl="4">
              <a:spcBef>
                <a:spcPts val="0"/>
              </a:spcBef>
              <a:spcAft>
                <a:spcPts val="0"/>
              </a:spcAft>
              <a:buClr>
                <a:schemeClr val="dk1"/>
              </a:buClr>
              <a:buSzPts val="2800"/>
              <a:buFont typeface="Chakra Petch"/>
              <a:buNone/>
              <a:defRPr sz="2800">
                <a:solidFill>
                  <a:schemeClr val="dk1"/>
                </a:solidFill>
                <a:latin typeface="Chakra Petch"/>
                <a:ea typeface="Chakra Petch"/>
                <a:cs typeface="Chakra Petch"/>
                <a:sym typeface="Chakra Petch"/>
              </a:defRPr>
            </a:lvl5pPr>
            <a:lvl6pPr lvl="5">
              <a:spcBef>
                <a:spcPts val="0"/>
              </a:spcBef>
              <a:spcAft>
                <a:spcPts val="0"/>
              </a:spcAft>
              <a:buClr>
                <a:schemeClr val="dk1"/>
              </a:buClr>
              <a:buSzPts val="2800"/>
              <a:buFont typeface="Chakra Petch"/>
              <a:buNone/>
              <a:defRPr sz="2800">
                <a:solidFill>
                  <a:schemeClr val="dk1"/>
                </a:solidFill>
                <a:latin typeface="Chakra Petch"/>
                <a:ea typeface="Chakra Petch"/>
                <a:cs typeface="Chakra Petch"/>
                <a:sym typeface="Chakra Petch"/>
              </a:defRPr>
            </a:lvl6pPr>
            <a:lvl7pPr lvl="6">
              <a:spcBef>
                <a:spcPts val="0"/>
              </a:spcBef>
              <a:spcAft>
                <a:spcPts val="0"/>
              </a:spcAft>
              <a:buClr>
                <a:schemeClr val="dk1"/>
              </a:buClr>
              <a:buSzPts val="2800"/>
              <a:buFont typeface="Chakra Petch"/>
              <a:buNone/>
              <a:defRPr sz="2800">
                <a:solidFill>
                  <a:schemeClr val="dk1"/>
                </a:solidFill>
                <a:latin typeface="Chakra Petch"/>
                <a:ea typeface="Chakra Petch"/>
                <a:cs typeface="Chakra Petch"/>
                <a:sym typeface="Chakra Petch"/>
              </a:defRPr>
            </a:lvl7pPr>
            <a:lvl8pPr lvl="7">
              <a:spcBef>
                <a:spcPts val="0"/>
              </a:spcBef>
              <a:spcAft>
                <a:spcPts val="0"/>
              </a:spcAft>
              <a:buClr>
                <a:schemeClr val="dk1"/>
              </a:buClr>
              <a:buSzPts val="2800"/>
              <a:buFont typeface="Chakra Petch"/>
              <a:buNone/>
              <a:defRPr sz="2800">
                <a:solidFill>
                  <a:schemeClr val="dk1"/>
                </a:solidFill>
                <a:latin typeface="Chakra Petch"/>
                <a:ea typeface="Chakra Petch"/>
                <a:cs typeface="Chakra Petch"/>
                <a:sym typeface="Chakra Petch"/>
              </a:defRPr>
            </a:lvl8pPr>
            <a:lvl9pPr lvl="8">
              <a:spcBef>
                <a:spcPts val="0"/>
              </a:spcBef>
              <a:spcAft>
                <a:spcPts val="0"/>
              </a:spcAft>
              <a:buClr>
                <a:schemeClr val="dk1"/>
              </a:buClr>
              <a:buSzPts val="2800"/>
              <a:buFont typeface="Chakra Petch"/>
              <a:buNone/>
              <a:defRPr sz="2800">
                <a:solidFill>
                  <a:schemeClr val="dk1"/>
                </a:solidFill>
                <a:latin typeface="Chakra Petch"/>
                <a:ea typeface="Chakra Petch"/>
                <a:cs typeface="Chakra Petch"/>
                <a:sym typeface="Chakra Petch"/>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hakra Petch Medium"/>
              <a:buChar char="●"/>
              <a:defRPr sz="1800">
                <a:solidFill>
                  <a:schemeClr val="dk2"/>
                </a:solidFill>
                <a:latin typeface="Chakra Petch Medium"/>
                <a:ea typeface="Chakra Petch Medium"/>
                <a:cs typeface="Chakra Petch Medium"/>
                <a:sym typeface="Chakra Petch Medium"/>
              </a:defRPr>
            </a:lvl1pPr>
            <a:lvl2pPr indent="-317500" lvl="1" marL="914400">
              <a:lnSpc>
                <a:spcPct val="115000"/>
              </a:lnSpc>
              <a:spcBef>
                <a:spcPts val="0"/>
              </a:spcBef>
              <a:spcAft>
                <a:spcPts val="0"/>
              </a:spcAft>
              <a:buClr>
                <a:schemeClr val="dk2"/>
              </a:buClr>
              <a:buSzPts val="1400"/>
              <a:buFont typeface="Chakra Petch Medium"/>
              <a:buChar char="○"/>
              <a:defRPr>
                <a:solidFill>
                  <a:schemeClr val="dk2"/>
                </a:solidFill>
                <a:latin typeface="Chakra Petch Medium"/>
                <a:ea typeface="Chakra Petch Medium"/>
                <a:cs typeface="Chakra Petch Medium"/>
                <a:sym typeface="Chakra Petch Medium"/>
              </a:defRPr>
            </a:lvl2pPr>
            <a:lvl3pPr indent="-317500" lvl="2" marL="1371600">
              <a:lnSpc>
                <a:spcPct val="115000"/>
              </a:lnSpc>
              <a:spcBef>
                <a:spcPts val="0"/>
              </a:spcBef>
              <a:spcAft>
                <a:spcPts val="0"/>
              </a:spcAft>
              <a:buClr>
                <a:schemeClr val="dk2"/>
              </a:buClr>
              <a:buSzPts val="1400"/>
              <a:buFont typeface="Chakra Petch Medium"/>
              <a:buChar char="■"/>
              <a:defRPr>
                <a:solidFill>
                  <a:schemeClr val="dk2"/>
                </a:solidFill>
                <a:latin typeface="Chakra Petch Medium"/>
                <a:ea typeface="Chakra Petch Medium"/>
                <a:cs typeface="Chakra Petch Medium"/>
                <a:sym typeface="Chakra Petch Medium"/>
              </a:defRPr>
            </a:lvl3pPr>
            <a:lvl4pPr indent="-317500" lvl="3" marL="1828800">
              <a:lnSpc>
                <a:spcPct val="115000"/>
              </a:lnSpc>
              <a:spcBef>
                <a:spcPts val="0"/>
              </a:spcBef>
              <a:spcAft>
                <a:spcPts val="0"/>
              </a:spcAft>
              <a:buClr>
                <a:schemeClr val="dk2"/>
              </a:buClr>
              <a:buSzPts val="1400"/>
              <a:buFont typeface="Chakra Petch Medium"/>
              <a:buChar char="●"/>
              <a:defRPr>
                <a:solidFill>
                  <a:schemeClr val="dk2"/>
                </a:solidFill>
                <a:latin typeface="Chakra Petch Medium"/>
                <a:ea typeface="Chakra Petch Medium"/>
                <a:cs typeface="Chakra Petch Medium"/>
                <a:sym typeface="Chakra Petch Medium"/>
              </a:defRPr>
            </a:lvl4pPr>
            <a:lvl5pPr indent="-317500" lvl="4" marL="2286000">
              <a:lnSpc>
                <a:spcPct val="115000"/>
              </a:lnSpc>
              <a:spcBef>
                <a:spcPts val="0"/>
              </a:spcBef>
              <a:spcAft>
                <a:spcPts val="0"/>
              </a:spcAft>
              <a:buClr>
                <a:schemeClr val="dk2"/>
              </a:buClr>
              <a:buSzPts val="1400"/>
              <a:buFont typeface="Chakra Petch Medium"/>
              <a:buChar char="○"/>
              <a:defRPr>
                <a:solidFill>
                  <a:schemeClr val="dk2"/>
                </a:solidFill>
                <a:latin typeface="Chakra Petch Medium"/>
                <a:ea typeface="Chakra Petch Medium"/>
                <a:cs typeface="Chakra Petch Medium"/>
                <a:sym typeface="Chakra Petch Medium"/>
              </a:defRPr>
            </a:lvl5pPr>
            <a:lvl6pPr indent="-317500" lvl="5" marL="2743200">
              <a:lnSpc>
                <a:spcPct val="115000"/>
              </a:lnSpc>
              <a:spcBef>
                <a:spcPts val="0"/>
              </a:spcBef>
              <a:spcAft>
                <a:spcPts val="0"/>
              </a:spcAft>
              <a:buClr>
                <a:schemeClr val="dk2"/>
              </a:buClr>
              <a:buSzPts val="1400"/>
              <a:buFont typeface="Chakra Petch Medium"/>
              <a:buChar char="■"/>
              <a:defRPr>
                <a:solidFill>
                  <a:schemeClr val="dk2"/>
                </a:solidFill>
                <a:latin typeface="Chakra Petch Medium"/>
                <a:ea typeface="Chakra Petch Medium"/>
                <a:cs typeface="Chakra Petch Medium"/>
                <a:sym typeface="Chakra Petch Medium"/>
              </a:defRPr>
            </a:lvl6pPr>
            <a:lvl7pPr indent="-317500" lvl="6" marL="3200400">
              <a:lnSpc>
                <a:spcPct val="115000"/>
              </a:lnSpc>
              <a:spcBef>
                <a:spcPts val="0"/>
              </a:spcBef>
              <a:spcAft>
                <a:spcPts val="0"/>
              </a:spcAft>
              <a:buClr>
                <a:schemeClr val="dk2"/>
              </a:buClr>
              <a:buSzPts val="1400"/>
              <a:buFont typeface="Chakra Petch Medium"/>
              <a:buChar char="●"/>
              <a:defRPr>
                <a:solidFill>
                  <a:schemeClr val="dk2"/>
                </a:solidFill>
                <a:latin typeface="Chakra Petch Medium"/>
                <a:ea typeface="Chakra Petch Medium"/>
                <a:cs typeface="Chakra Petch Medium"/>
                <a:sym typeface="Chakra Petch Medium"/>
              </a:defRPr>
            </a:lvl7pPr>
            <a:lvl8pPr indent="-317500" lvl="7" marL="3657600">
              <a:lnSpc>
                <a:spcPct val="115000"/>
              </a:lnSpc>
              <a:spcBef>
                <a:spcPts val="0"/>
              </a:spcBef>
              <a:spcAft>
                <a:spcPts val="0"/>
              </a:spcAft>
              <a:buClr>
                <a:schemeClr val="dk2"/>
              </a:buClr>
              <a:buSzPts val="1400"/>
              <a:buFont typeface="Chakra Petch Medium"/>
              <a:buChar char="○"/>
              <a:defRPr>
                <a:solidFill>
                  <a:schemeClr val="dk2"/>
                </a:solidFill>
                <a:latin typeface="Chakra Petch Medium"/>
                <a:ea typeface="Chakra Petch Medium"/>
                <a:cs typeface="Chakra Petch Medium"/>
                <a:sym typeface="Chakra Petch Medium"/>
              </a:defRPr>
            </a:lvl8pPr>
            <a:lvl9pPr indent="-317500" lvl="8" marL="4114800">
              <a:lnSpc>
                <a:spcPct val="115000"/>
              </a:lnSpc>
              <a:spcBef>
                <a:spcPts val="0"/>
              </a:spcBef>
              <a:spcAft>
                <a:spcPts val="0"/>
              </a:spcAft>
              <a:buClr>
                <a:schemeClr val="dk2"/>
              </a:buClr>
              <a:buSzPts val="1400"/>
              <a:buFont typeface="Chakra Petch Medium"/>
              <a:buChar char="■"/>
              <a:defRPr>
                <a:solidFill>
                  <a:schemeClr val="dk2"/>
                </a:solidFill>
                <a:latin typeface="Chakra Petch Medium"/>
                <a:ea typeface="Chakra Petch Medium"/>
                <a:cs typeface="Chakra Petch Medium"/>
                <a:sym typeface="Chakra Petch Medium"/>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hyperlink" Target="https://www.kaggle.com/datasets/mlg-ulb/creditcardfraud" TargetMode="External"/><Relationship Id="rId5" Type="http://schemas.openxmlformats.org/officeDocument/2006/relationships/image" Target="../media/image9.png"/><Relationship Id="rId6" Type="http://schemas.openxmlformats.org/officeDocument/2006/relationships/image" Target="../media/image2.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 name="Shape 55"/>
        <p:cNvGrpSpPr/>
        <p:nvPr/>
      </p:nvGrpSpPr>
      <p:grpSpPr>
        <a:xfrm>
          <a:off x="0" y="0"/>
          <a:ext cx="0" cy="0"/>
          <a:chOff x="0" y="0"/>
          <a:chExt cx="0" cy="0"/>
        </a:xfrm>
      </p:grpSpPr>
      <p:sp>
        <p:nvSpPr>
          <p:cNvPr descr="Presentation title" id="56" name="Google Shape;56;p15"/>
          <p:cNvSpPr txBox="1"/>
          <p:nvPr/>
        </p:nvSpPr>
        <p:spPr>
          <a:xfrm>
            <a:off x="228025" y="1933500"/>
            <a:ext cx="4014900" cy="12765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lang="en" sz="4500">
                <a:solidFill>
                  <a:srgbClr val="191919"/>
                </a:solidFill>
                <a:latin typeface="Teko"/>
                <a:ea typeface="Teko"/>
                <a:cs typeface="Teko"/>
                <a:sym typeface="Teko"/>
              </a:rPr>
              <a:t>Project One</a:t>
            </a:r>
            <a:endParaRPr sz="4500">
              <a:solidFill>
                <a:srgbClr val="191919"/>
              </a:solidFill>
              <a:latin typeface="Teko"/>
              <a:ea typeface="Teko"/>
              <a:cs typeface="Teko"/>
              <a:sym typeface="Teko"/>
            </a:endParaRPr>
          </a:p>
          <a:p>
            <a:pPr indent="0" lvl="0" marL="0" rtl="0" algn="l">
              <a:lnSpc>
                <a:spcPct val="90000"/>
              </a:lnSpc>
              <a:spcBef>
                <a:spcPts val="0"/>
              </a:spcBef>
              <a:spcAft>
                <a:spcPts val="0"/>
              </a:spcAft>
              <a:buNone/>
            </a:pPr>
            <a:r>
              <a:rPr lang="en" sz="4500">
                <a:solidFill>
                  <a:srgbClr val="191919"/>
                </a:solidFill>
                <a:latin typeface="Teko"/>
                <a:ea typeface="Teko"/>
                <a:cs typeface="Teko"/>
                <a:sym typeface="Teko"/>
              </a:rPr>
              <a:t>Presentation</a:t>
            </a:r>
            <a:endParaRPr sz="4500">
              <a:solidFill>
                <a:srgbClr val="191919"/>
              </a:solidFill>
              <a:latin typeface="Teko"/>
              <a:ea typeface="Teko"/>
              <a:cs typeface="Teko"/>
              <a:sym typeface="Teko"/>
            </a:endParaRPr>
          </a:p>
        </p:txBody>
      </p:sp>
      <p:sp>
        <p:nvSpPr>
          <p:cNvPr descr="Presentation tagline" id="57" name="Google Shape;57;p15"/>
          <p:cNvSpPr txBox="1"/>
          <p:nvPr/>
        </p:nvSpPr>
        <p:spPr>
          <a:xfrm>
            <a:off x="293525" y="3014874"/>
            <a:ext cx="2679000" cy="7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191919"/>
                </a:solidFill>
                <a:latin typeface="Chakra Petch Medium"/>
                <a:ea typeface="Chakra Petch Medium"/>
                <a:cs typeface="Chakra Petch Medium"/>
                <a:sym typeface="Chakra Petch Medium"/>
              </a:rPr>
              <a:t>By Renee Guldi</a:t>
            </a:r>
            <a:endParaRPr sz="1600">
              <a:solidFill>
                <a:srgbClr val="191919"/>
              </a:solidFill>
              <a:latin typeface="Chakra Petch Medium"/>
              <a:ea typeface="Chakra Petch Medium"/>
              <a:cs typeface="Chakra Petch Medium"/>
              <a:sym typeface="Chakra Petch Medium"/>
            </a:endParaRPr>
          </a:p>
        </p:txBody>
      </p:sp>
      <p:pic>
        <p:nvPicPr>
          <p:cNvPr id="58" name="Google Shape;58;p15" title="Screenshot 2026-03-14 at 2.29.49 PM.png"/>
          <p:cNvPicPr preferRelativeResize="0"/>
          <p:nvPr>
            <p:ph idx="2" type="pic"/>
          </p:nvPr>
        </p:nvPicPr>
        <p:blipFill rotWithShape="1">
          <a:blip r:embed="rId4">
            <a:alphaModFix/>
          </a:blip>
          <a:srcRect b="0" l="15386" r="-2312" t="0"/>
          <a:stretch/>
        </p:blipFill>
        <p:spPr>
          <a:xfrm>
            <a:off x="3416394" y="-2"/>
            <a:ext cx="7799100" cy="5143500"/>
          </a:xfrm>
          <a:prstGeom prst="parallelogram">
            <a:avLst>
              <a:gd fmla="val 25000" name="adj"/>
            </a:avLst>
          </a:prstGeom>
          <a:noFill/>
          <a:ln>
            <a:noFill/>
          </a:ln>
        </p:spPr>
      </p:pic>
      <p:pic>
        <p:nvPicPr>
          <p:cNvPr descr="University of Indianapolis logo" id="59" name="Google Shape;59;p15"/>
          <p:cNvPicPr preferRelativeResize="0"/>
          <p:nvPr/>
        </p:nvPicPr>
        <p:blipFill>
          <a:blip r:embed="rId5">
            <a:alphaModFix/>
          </a:blip>
          <a:stretch>
            <a:fillRect/>
          </a:stretch>
        </p:blipFill>
        <p:spPr>
          <a:xfrm>
            <a:off x="293525" y="4744249"/>
            <a:ext cx="2869000" cy="134575"/>
          </a:xfrm>
          <a:prstGeom prst="rect">
            <a:avLst/>
          </a:prstGeom>
          <a:noFill/>
          <a:ln>
            <a:noFill/>
          </a:ln>
        </p:spPr>
      </p:pic>
      <p:pic>
        <p:nvPicPr>
          <p:cNvPr descr="Hound logo" id="60" name="Google Shape;60;p15"/>
          <p:cNvPicPr preferRelativeResize="0"/>
          <p:nvPr/>
        </p:nvPicPr>
        <p:blipFill rotWithShape="1">
          <a:blip r:embed="rId6">
            <a:alphaModFix/>
          </a:blip>
          <a:srcRect b="0" l="0" r="0" t="0"/>
          <a:stretch/>
        </p:blipFill>
        <p:spPr>
          <a:xfrm>
            <a:off x="8144335" y="4788430"/>
            <a:ext cx="860314" cy="333891"/>
          </a:xfrm>
          <a:prstGeom prst="rect">
            <a:avLst/>
          </a:prstGeom>
          <a:noFill/>
          <a:ln>
            <a:noFill/>
          </a:ln>
        </p:spPr>
      </p:pic>
      <p:sp>
        <p:nvSpPr>
          <p:cNvPr id="61" name="Google Shape;61;p15"/>
          <p:cNvSpPr txBox="1"/>
          <p:nvPr/>
        </p:nvSpPr>
        <p:spPr>
          <a:xfrm>
            <a:off x="228025" y="501900"/>
            <a:ext cx="3759000" cy="1431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500">
                <a:solidFill>
                  <a:srgbClr val="191919"/>
                </a:solidFill>
                <a:latin typeface="Teko"/>
                <a:ea typeface="Teko"/>
                <a:cs typeface="Teko"/>
                <a:sym typeface="Teko"/>
              </a:rPr>
              <a:t>Credit Card Fraud Detection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descr="Slide title" id="67" name="Google Shape;67;p16"/>
          <p:cNvSpPr txBox="1"/>
          <p:nvPr/>
        </p:nvSpPr>
        <p:spPr>
          <a:xfrm>
            <a:off x="370725" y="1149002"/>
            <a:ext cx="4079400" cy="2378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3000">
                <a:solidFill>
                  <a:schemeClr val="lt1"/>
                </a:solidFill>
                <a:latin typeface="Chakra Petch SemiBold"/>
                <a:ea typeface="Chakra Petch SemiBold"/>
                <a:cs typeface="Chakra Petch SemiBold"/>
                <a:sym typeface="Chakra Petch SemiBold"/>
              </a:rPr>
              <a:t>Goal:</a:t>
            </a:r>
            <a:endParaRPr sz="3000">
              <a:solidFill>
                <a:schemeClr val="lt1"/>
              </a:solidFill>
              <a:latin typeface="Chakra Petch SemiBold"/>
              <a:ea typeface="Chakra Petch SemiBold"/>
              <a:cs typeface="Chakra Petch SemiBold"/>
              <a:sym typeface="Chakra Petch SemiBold"/>
            </a:endParaRPr>
          </a:p>
          <a:p>
            <a:pPr indent="0" lvl="0" marL="0" marR="0" rtl="0" algn="l">
              <a:spcBef>
                <a:spcPts val="0"/>
              </a:spcBef>
              <a:spcAft>
                <a:spcPts val="0"/>
              </a:spcAft>
              <a:buNone/>
            </a:pPr>
            <a:r>
              <a:rPr lang="en" sz="3000">
                <a:solidFill>
                  <a:schemeClr val="lt1"/>
                </a:solidFill>
                <a:latin typeface="Chakra Petch SemiBold"/>
                <a:ea typeface="Chakra Petch SemiBold"/>
                <a:cs typeface="Chakra Petch SemiBold"/>
                <a:sym typeface="Chakra Petch SemiBold"/>
              </a:rPr>
              <a:t>Detect fraudulent credit card transactions automatically.</a:t>
            </a:r>
            <a:endParaRPr sz="3000">
              <a:solidFill>
                <a:schemeClr val="lt1"/>
              </a:solidFill>
              <a:latin typeface="Chakra Petch SemiBold"/>
              <a:ea typeface="Chakra Petch SemiBold"/>
              <a:cs typeface="Chakra Petch SemiBold"/>
              <a:sym typeface="Chakra Petch SemiBold"/>
            </a:endParaRPr>
          </a:p>
        </p:txBody>
      </p:sp>
      <p:sp>
        <p:nvSpPr>
          <p:cNvPr descr="Circle 1" id="68" name="Google Shape;68;p16"/>
          <p:cNvSpPr/>
          <p:nvPr/>
        </p:nvSpPr>
        <p:spPr>
          <a:xfrm>
            <a:off x="4649794" y="1451856"/>
            <a:ext cx="1772400" cy="1772400"/>
          </a:xfrm>
          <a:prstGeom prst="ellipse">
            <a:avLst/>
          </a:prstGeom>
          <a:noFill/>
          <a:ln cap="flat" cmpd="sng" w="28575">
            <a:solidFill>
              <a:srgbClr val="F8D55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hakra Petch Medium"/>
              <a:ea typeface="Chakra Petch Medium"/>
              <a:cs typeface="Chakra Petch Medium"/>
              <a:sym typeface="Chakra Petch Medium"/>
            </a:endParaRPr>
          </a:p>
        </p:txBody>
      </p:sp>
      <p:sp>
        <p:nvSpPr>
          <p:cNvPr descr="Circle 1 number" id="69" name="Google Shape;69;p16"/>
          <p:cNvSpPr txBox="1"/>
          <p:nvPr/>
        </p:nvSpPr>
        <p:spPr>
          <a:xfrm>
            <a:off x="4731025" y="426925"/>
            <a:ext cx="1311900" cy="805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Chakra Petch Medium"/>
                <a:ea typeface="Chakra Petch Medium"/>
                <a:cs typeface="Chakra Petch Medium"/>
                <a:sym typeface="Chakra Petch Medium"/>
              </a:rPr>
              <a:t>Why is this important?</a:t>
            </a:r>
            <a:endParaRPr sz="1700">
              <a:solidFill>
                <a:schemeClr val="lt1"/>
              </a:solidFill>
              <a:latin typeface="Chakra Petch Medium"/>
              <a:ea typeface="Chakra Petch Medium"/>
              <a:cs typeface="Chakra Petch Medium"/>
              <a:sym typeface="Chakra Petch Medium"/>
            </a:endParaRPr>
          </a:p>
        </p:txBody>
      </p:sp>
      <p:sp>
        <p:nvSpPr>
          <p:cNvPr descr="Circle 1 text under the number" id="70" name="Google Shape;70;p16"/>
          <p:cNvSpPr txBox="1"/>
          <p:nvPr/>
        </p:nvSpPr>
        <p:spPr>
          <a:xfrm>
            <a:off x="4880050" y="1782825"/>
            <a:ext cx="1311900" cy="100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Fraud causes billions in financial loss each year.</a:t>
            </a:r>
            <a:endParaRPr b="1">
              <a:latin typeface="Proxima Nova"/>
              <a:ea typeface="Proxima Nova"/>
              <a:cs typeface="Proxima Nova"/>
              <a:sym typeface="Proxima Nova"/>
            </a:endParaRPr>
          </a:p>
        </p:txBody>
      </p:sp>
      <p:sp>
        <p:nvSpPr>
          <p:cNvPr descr="Circle 2" id="71" name="Google Shape;71;p16"/>
          <p:cNvSpPr/>
          <p:nvPr/>
        </p:nvSpPr>
        <p:spPr>
          <a:xfrm>
            <a:off x="6323819" y="426931"/>
            <a:ext cx="1772400" cy="1772400"/>
          </a:xfrm>
          <a:prstGeom prst="ellipse">
            <a:avLst/>
          </a:prstGeom>
          <a:noFill/>
          <a:ln cap="flat" cmpd="sng" w="28575">
            <a:solidFill>
              <a:srgbClr val="F8D55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hakra Petch Medium"/>
              <a:ea typeface="Chakra Petch Medium"/>
              <a:cs typeface="Chakra Petch Medium"/>
              <a:sym typeface="Chakra Petch Medium"/>
            </a:endParaRPr>
          </a:p>
        </p:txBody>
      </p:sp>
      <p:sp>
        <p:nvSpPr>
          <p:cNvPr descr="Circle 2 text under the number" id="72" name="Google Shape;72;p16"/>
          <p:cNvSpPr txBox="1"/>
          <p:nvPr/>
        </p:nvSpPr>
        <p:spPr>
          <a:xfrm>
            <a:off x="6554074" y="988725"/>
            <a:ext cx="1311900" cy="79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Fraud Transactions are rare</a:t>
            </a:r>
            <a:endParaRPr b="1">
              <a:latin typeface="Proxima Nova"/>
              <a:ea typeface="Proxima Nova"/>
              <a:cs typeface="Proxima Nova"/>
              <a:sym typeface="Proxima Nova"/>
            </a:endParaRPr>
          </a:p>
        </p:txBody>
      </p:sp>
      <p:sp>
        <p:nvSpPr>
          <p:cNvPr descr="Circle 3" id="73" name="Google Shape;73;p16"/>
          <p:cNvSpPr/>
          <p:nvPr/>
        </p:nvSpPr>
        <p:spPr>
          <a:xfrm>
            <a:off x="6323819" y="2749769"/>
            <a:ext cx="1772400" cy="1772400"/>
          </a:xfrm>
          <a:prstGeom prst="ellipse">
            <a:avLst/>
          </a:prstGeom>
          <a:noFill/>
          <a:ln cap="flat" cmpd="sng" w="28575">
            <a:solidFill>
              <a:srgbClr val="F8D55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hakra Petch Medium"/>
              <a:ea typeface="Chakra Petch Medium"/>
              <a:cs typeface="Chakra Petch Medium"/>
              <a:sym typeface="Chakra Petch Medium"/>
            </a:endParaRPr>
          </a:p>
        </p:txBody>
      </p:sp>
      <p:sp>
        <p:nvSpPr>
          <p:cNvPr descr="Circle 3 text under the number" id="74" name="Google Shape;74;p16"/>
          <p:cNvSpPr txBox="1"/>
          <p:nvPr/>
        </p:nvSpPr>
        <p:spPr>
          <a:xfrm>
            <a:off x="6554074" y="3224238"/>
            <a:ext cx="1311900" cy="100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Manual detection is a lot more tedious and difficult</a:t>
            </a:r>
            <a:endParaRPr b="1">
              <a:latin typeface="Proxima Nova"/>
              <a:ea typeface="Proxima Nova"/>
              <a:cs typeface="Proxima Nova"/>
              <a:sym typeface="Proxima Nova"/>
            </a:endParaRPr>
          </a:p>
        </p:txBody>
      </p:sp>
      <p:pic>
        <p:nvPicPr>
          <p:cNvPr descr="University of Indianapolis logo" id="75" name="Google Shape;75;p16"/>
          <p:cNvPicPr preferRelativeResize="0"/>
          <p:nvPr/>
        </p:nvPicPr>
        <p:blipFill>
          <a:blip r:embed="rId4">
            <a:alphaModFix/>
          </a:blip>
          <a:stretch>
            <a:fillRect/>
          </a:stretch>
        </p:blipFill>
        <p:spPr>
          <a:xfrm>
            <a:off x="291763" y="4727137"/>
            <a:ext cx="3234174" cy="151675"/>
          </a:xfrm>
          <a:prstGeom prst="rect">
            <a:avLst/>
          </a:prstGeom>
          <a:noFill/>
          <a:ln>
            <a:noFill/>
          </a:ln>
        </p:spPr>
      </p:pic>
      <p:pic>
        <p:nvPicPr>
          <p:cNvPr descr="Hound logo" id="76" name="Google Shape;76;p16"/>
          <p:cNvPicPr preferRelativeResize="0"/>
          <p:nvPr/>
        </p:nvPicPr>
        <p:blipFill rotWithShape="1">
          <a:blip r:embed="rId5">
            <a:alphaModFix/>
          </a:blip>
          <a:srcRect b="0" l="0" r="0" t="0"/>
          <a:stretch/>
        </p:blipFill>
        <p:spPr>
          <a:xfrm>
            <a:off x="7991935" y="4636030"/>
            <a:ext cx="860314" cy="333891"/>
          </a:xfrm>
          <a:prstGeom prst="rect">
            <a:avLst/>
          </a:prstGeom>
          <a:noFill/>
          <a:ln>
            <a:noFill/>
          </a:ln>
        </p:spPr>
      </p:pic>
      <p:sp>
        <p:nvSpPr>
          <p:cNvPr id="77" name="Google Shape;77;p16"/>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 name="Shape 82"/>
        <p:cNvGrpSpPr/>
        <p:nvPr/>
      </p:nvGrpSpPr>
      <p:grpSpPr>
        <a:xfrm>
          <a:off x="0" y="0"/>
          <a:ext cx="0" cy="0"/>
          <a:chOff x="0" y="0"/>
          <a:chExt cx="0" cy="0"/>
        </a:xfrm>
      </p:grpSpPr>
      <p:sp>
        <p:nvSpPr>
          <p:cNvPr descr="Image 3 placeholder" id="83" name="Google Shape;83;p17"/>
          <p:cNvSpPr/>
          <p:nvPr/>
        </p:nvSpPr>
        <p:spPr>
          <a:xfrm>
            <a:off x="3525925" y="33901"/>
            <a:ext cx="7217100" cy="5075700"/>
          </a:xfrm>
          <a:prstGeom prst="parallelogram">
            <a:avLst>
              <a:gd fmla="val 25000" name="adj"/>
            </a:avLst>
          </a:prstGeom>
          <a:noFill/>
          <a:ln cap="flat" cmpd="sng" w="11225">
            <a:solidFill>
              <a:schemeClr val="lt1"/>
            </a:solidFill>
            <a:prstDash val="solid"/>
            <a:round/>
            <a:headEnd len="sm" w="sm" type="none"/>
            <a:tailEnd len="sm" w="sm" type="none"/>
          </a:ln>
        </p:spPr>
        <p:txBody>
          <a:bodyPr anchorCtr="0" anchor="ctr" bIns="107775" lIns="107775" spcFirstLastPara="1" rIns="107775" wrap="square" tIns="107775">
            <a:noAutofit/>
          </a:bodyPr>
          <a:lstStyle/>
          <a:p>
            <a:pPr indent="0" lvl="0" marL="0" rtl="0" algn="ctr">
              <a:spcBef>
                <a:spcPts val="0"/>
              </a:spcBef>
              <a:spcAft>
                <a:spcPts val="0"/>
              </a:spcAft>
              <a:buNone/>
            </a:pPr>
            <a:r>
              <a:rPr lang="en" sz="1650"/>
              <a:t>     </a:t>
            </a:r>
            <a:endParaRPr sz="1650"/>
          </a:p>
        </p:txBody>
      </p:sp>
      <p:sp>
        <p:nvSpPr>
          <p:cNvPr descr="Slide title" id="84" name="Google Shape;84;p17"/>
          <p:cNvSpPr txBox="1"/>
          <p:nvPr/>
        </p:nvSpPr>
        <p:spPr>
          <a:xfrm>
            <a:off x="745350" y="520350"/>
            <a:ext cx="2896500" cy="7389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Chosen Dataset</a:t>
            </a:r>
            <a:endParaRPr sz="4200">
              <a:solidFill>
                <a:schemeClr val="lt1"/>
              </a:solidFill>
              <a:latin typeface="Teko"/>
              <a:ea typeface="Teko"/>
              <a:cs typeface="Teko"/>
              <a:sym typeface="Teko"/>
            </a:endParaRPr>
          </a:p>
        </p:txBody>
      </p:sp>
      <p:cxnSp>
        <p:nvCxnSpPr>
          <p:cNvPr id="85" name="Google Shape;85;p17"/>
          <p:cNvCxnSpPr/>
          <p:nvPr/>
        </p:nvCxnSpPr>
        <p:spPr>
          <a:xfrm>
            <a:off x="-16700" y="1259250"/>
            <a:ext cx="3274200" cy="0"/>
          </a:xfrm>
          <a:prstGeom prst="straightConnector1">
            <a:avLst/>
          </a:prstGeom>
          <a:noFill/>
          <a:ln cap="flat" cmpd="sng" w="28575">
            <a:solidFill>
              <a:schemeClr val="lt1"/>
            </a:solidFill>
            <a:prstDash val="solid"/>
            <a:round/>
            <a:headEnd len="med" w="med" type="none"/>
            <a:tailEnd len="med" w="med" type="none"/>
          </a:ln>
        </p:spPr>
      </p:cxnSp>
      <p:sp>
        <p:nvSpPr>
          <p:cNvPr descr="Slide description" id="86" name="Google Shape;86;p17"/>
          <p:cNvSpPr txBox="1"/>
          <p:nvPr/>
        </p:nvSpPr>
        <p:spPr>
          <a:xfrm>
            <a:off x="215000" y="1393475"/>
            <a:ext cx="3942300" cy="24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This dataset was found on </a:t>
            </a:r>
            <a:r>
              <a:rPr lang="en" sz="1700" u="sng">
                <a:solidFill>
                  <a:schemeClr val="hlink"/>
                </a:solidFill>
                <a:latin typeface="Proxima Nova Semibold"/>
                <a:ea typeface="Proxima Nova Semibold"/>
                <a:cs typeface="Proxima Nova Semibold"/>
                <a:sym typeface="Proxima Nova Semibold"/>
                <a:hlinkClick r:id="rId4"/>
              </a:rPr>
              <a:t>Kaggle.com</a:t>
            </a:r>
            <a:endParaRPr sz="17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It contained:</a:t>
            </a:r>
            <a:endParaRPr sz="1700">
              <a:solidFill>
                <a:schemeClr val="lt1"/>
              </a:solidFill>
              <a:latin typeface="Proxima Nova Semibold"/>
              <a:ea typeface="Proxima Nova Semibold"/>
              <a:cs typeface="Proxima Nova Semibold"/>
              <a:sym typeface="Proxima Nova Semibold"/>
            </a:endParaRPr>
          </a:p>
          <a:p>
            <a:pPr indent="-336550" lvl="0" marL="457200" rtl="0" algn="l">
              <a:spcBef>
                <a:spcPts val="0"/>
              </a:spcBef>
              <a:spcAft>
                <a:spcPts val="0"/>
              </a:spcAft>
              <a:buClr>
                <a:schemeClr val="lt1"/>
              </a:buClr>
              <a:buSzPts val="1700"/>
              <a:buFont typeface="Proxima Nova Semibold"/>
              <a:buChar char="-"/>
            </a:pPr>
            <a:r>
              <a:rPr lang="en" sz="1700">
                <a:solidFill>
                  <a:schemeClr val="lt1"/>
                </a:solidFill>
                <a:latin typeface="Proxima Nova Semibold"/>
                <a:ea typeface="Proxima Nova Semibold"/>
                <a:cs typeface="Proxima Nova Semibold"/>
                <a:sym typeface="Proxima Nova Semibold"/>
              </a:rPr>
              <a:t>284,807 transactions</a:t>
            </a:r>
            <a:endParaRPr sz="1700">
              <a:solidFill>
                <a:schemeClr val="lt1"/>
              </a:solidFill>
              <a:latin typeface="Proxima Nova Semibold"/>
              <a:ea typeface="Proxima Nova Semibold"/>
              <a:cs typeface="Proxima Nova Semibold"/>
              <a:sym typeface="Proxima Nova Semibold"/>
            </a:endParaRPr>
          </a:p>
          <a:p>
            <a:pPr indent="-336550" lvl="0" marL="457200" rtl="0" algn="l">
              <a:spcBef>
                <a:spcPts val="0"/>
              </a:spcBef>
              <a:spcAft>
                <a:spcPts val="0"/>
              </a:spcAft>
              <a:buClr>
                <a:schemeClr val="lt1"/>
              </a:buClr>
              <a:buSzPts val="1700"/>
              <a:buFont typeface="Proxima Nova Semibold"/>
              <a:buChar char="-"/>
            </a:pPr>
            <a:r>
              <a:rPr lang="en" sz="1700">
                <a:solidFill>
                  <a:schemeClr val="lt1"/>
                </a:solidFill>
                <a:latin typeface="Proxima Nova Semibold"/>
                <a:ea typeface="Proxima Nova Semibold"/>
                <a:cs typeface="Proxima Nova Semibold"/>
                <a:sym typeface="Proxima Nova Semibold"/>
              </a:rPr>
              <a:t>30 input features</a:t>
            </a:r>
            <a:endParaRPr sz="1700">
              <a:solidFill>
                <a:schemeClr val="lt1"/>
              </a:solidFill>
              <a:latin typeface="Proxima Nova Semibold"/>
              <a:ea typeface="Proxima Nova Semibold"/>
              <a:cs typeface="Proxima Nova Semibold"/>
              <a:sym typeface="Proxima Nova Semibold"/>
            </a:endParaRPr>
          </a:p>
          <a:p>
            <a:pPr indent="-336550" lvl="0" marL="457200" rtl="0" algn="l">
              <a:spcBef>
                <a:spcPts val="0"/>
              </a:spcBef>
              <a:spcAft>
                <a:spcPts val="0"/>
              </a:spcAft>
              <a:buClr>
                <a:schemeClr val="lt1"/>
              </a:buClr>
              <a:buSzPts val="1700"/>
              <a:buFont typeface="Proxima Nova Semibold"/>
              <a:buChar char="-"/>
            </a:pPr>
            <a:r>
              <a:rPr lang="en" sz="1700">
                <a:solidFill>
                  <a:schemeClr val="lt1"/>
                </a:solidFill>
                <a:latin typeface="Proxima Nova Semibold"/>
                <a:ea typeface="Proxima Nova Semibold"/>
                <a:cs typeface="Proxima Nova Semibold"/>
                <a:sym typeface="Proxima Nova Semibold"/>
              </a:rPr>
              <a:t>And 1 target label.</a:t>
            </a:r>
            <a:endParaRPr sz="17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17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Class:</a:t>
            </a:r>
            <a:endParaRPr sz="17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0 means Normal Transaction</a:t>
            </a:r>
            <a:endParaRPr sz="17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1 means Fraud Transaction.</a:t>
            </a:r>
            <a:endParaRPr sz="1700">
              <a:solidFill>
                <a:schemeClr val="lt1"/>
              </a:solidFill>
              <a:latin typeface="Proxima Nova Semibold"/>
              <a:ea typeface="Proxima Nova Semibold"/>
              <a:cs typeface="Proxima Nova Semibold"/>
              <a:sym typeface="Proxima Nova Semibold"/>
            </a:endParaRPr>
          </a:p>
        </p:txBody>
      </p:sp>
      <p:pic>
        <p:nvPicPr>
          <p:cNvPr id="87" name="Google Shape;87;p17" title="Screenshot 2026-03-14 at 2.42.04 PM.png"/>
          <p:cNvPicPr preferRelativeResize="0"/>
          <p:nvPr>
            <p:ph idx="2" type="pic"/>
          </p:nvPr>
        </p:nvPicPr>
        <p:blipFill rotWithShape="1">
          <a:blip r:embed="rId5">
            <a:alphaModFix/>
          </a:blip>
          <a:srcRect b="4785" l="0" r="0" t="840"/>
          <a:stretch/>
        </p:blipFill>
        <p:spPr>
          <a:xfrm>
            <a:off x="3608976" y="71037"/>
            <a:ext cx="7583700" cy="5001300"/>
          </a:xfrm>
          <a:prstGeom prst="parallelogram">
            <a:avLst>
              <a:gd fmla="val 25000" name="adj"/>
            </a:avLst>
          </a:prstGeom>
          <a:noFill/>
          <a:ln>
            <a:noFill/>
          </a:ln>
        </p:spPr>
      </p:pic>
      <p:pic>
        <p:nvPicPr>
          <p:cNvPr descr="Hound logo" id="88" name="Google Shape;88;p17"/>
          <p:cNvPicPr preferRelativeResize="0"/>
          <p:nvPr/>
        </p:nvPicPr>
        <p:blipFill rotWithShape="1">
          <a:blip r:embed="rId6">
            <a:alphaModFix/>
          </a:blip>
          <a:srcRect b="0" l="0" r="0" t="0"/>
          <a:stretch/>
        </p:blipFill>
        <p:spPr>
          <a:xfrm>
            <a:off x="7991935" y="4636030"/>
            <a:ext cx="860314" cy="333891"/>
          </a:xfrm>
          <a:prstGeom prst="rect">
            <a:avLst/>
          </a:prstGeom>
          <a:noFill/>
          <a:ln>
            <a:noFill/>
          </a:ln>
        </p:spPr>
      </p:pic>
      <p:sp>
        <p:nvSpPr>
          <p:cNvPr id="89" name="Google Shape;89;p17"/>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descr="University of Indianapolis logo" id="90" name="Google Shape;90;p17"/>
          <p:cNvPicPr preferRelativeResize="0"/>
          <p:nvPr/>
        </p:nvPicPr>
        <p:blipFill>
          <a:blip r:embed="rId7">
            <a:alphaModFix/>
          </a:blip>
          <a:stretch>
            <a:fillRect/>
          </a:stretch>
        </p:blipFill>
        <p:spPr>
          <a:xfrm>
            <a:off x="291763" y="4727137"/>
            <a:ext cx="3234174" cy="151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descr="Slide title" id="96" name="Google Shape;96;p18"/>
          <p:cNvSpPr txBox="1"/>
          <p:nvPr/>
        </p:nvSpPr>
        <p:spPr>
          <a:xfrm>
            <a:off x="177450" y="520350"/>
            <a:ext cx="3574200" cy="7389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Data Preprocessing</a:t>
            </a:r>
            <a:endParaRPr sz="4200">
              <a:solidFill>
                <a:schemeClr val="lt1"/>
              </a:solidFill>
              <a:latin typeface="Teko"/>
              <a:ea typeface="Teko"/>
              <a:cs typeface="Teko"/>
              <a:sym typeface="Teko"/>
            </a:endParaRPr>
          </a:p>
        </p:txBody>
      </p:sp>
      <p:cxnSp>
        <p:nvCxnSpPr>
          <p:cNvPr id="97" name="Google Shape;97;p18"/>
          <p:cNvCxnSpPr/>
          <p:nvPr/>
        </p:nvCxnSpPr>
        <p:spPr>
          <a:xfrm>
            <a:off x="-16700" y="1259250"/>
            <a:ext cx="2925600" cy="0"/>
          </a:xfrm>
          <a:prstGeom prst="straightConnector1">
            <a:avLst/>
          </a:prstGeom>
          <a:noFill/>
          <a:ln cap="flat" cmpd="sng" w="28575">
            <a:solidFill>
              <a:schemeClr val="lt1"/>
            </a:solidFill>
            <a:prstDash val="solid"/>
            <a:round/>
            <a:headEnd len="med" w="med" type="none"/>
            <a:tailEnd len="med" w="med" type="none"/>
          </a:ln>
        </p:spPr>
      </p:cxnSp>
      <p:sp>
        <p:nvSpPr>
          <p:cNvPr descr="Subtitle" id="98" name="Google Shape;98;p18"/>
          <p:cNvSpPr txBox="1"/>
          <p:nvPr/>
        </p:nvSpPr>
        <p:spPr>
          <a:xfrm>
            <a:off x="108325" y="1315163"/>
            <a:ext cx="3136500" cy="8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100">
                <a:solidFill>
                  <a:schemeClr val="lt1"/>
                </a:solidFill>
                <a:latin typeface="Chakra Petch SemiBold"/>
                <a:ea typeface="Chakra Petch SemiBold"/>
                <a:cs typeface="Chakra Petch SemiBold"/>
                <a:sym typeface="Chakra Petch SemiBold"/>
              </a:rPr>
              <a:t>Performed in 5 steps:</a:t>
            </a:r>
            <a:endParaRPr sz="2100">
              <a:solidFill>
                <a:schemeClr val="lt1"/>
              </a:solidFill>
              <a:latin typeface="Chakra Petch SemiBold"/>
              <a:ea typeface="Chakra Petch SemiBold"/>
              <a:cs typeface="Chakra Petch SemiBold"/>
              <a:sym typeface="Chakra Petch SemiBold"/>
            </a:endParaRPr>
          </a:p>
        </p:txBody>
      </p:sp>
      <p:sp>
        <p:nvSpPr>
          <p:cNvPr descr="Text to the right of first number" id="99" name="Google Shape;99;p18"/>
          <p:cNvSpPr txBox="1"/>
          <p:nvPr/>
        </p:nvSpPr>
        <p:spPr>
          <a:xfrm>
            <a:off x="946950" y="1794750"/>
            <a:ext cx="7243200" cy="1736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Chakra Petch"/>
              <a:buAutoNum type="arabicPeriod"/>
            </a:pPr>
            <a:r>
              <a:rPr b="1" lang="en" sz="1800">
                <a:solidFill>
                  <a:schemeClr val="lt1"/>
                </a:solidFill>
                <a:latin typeface="Chakra Petch"/>
                <a:ea typeface="Chakra Petch"/>
                <a:cs typeface="Chakra Petch"/>
                <a:sym typeface="Chakra Petch"/>
              </a:rPr>
              <a:t>Loaded the sample dataset using pandas and gdown.</a:t>
            </a:r>
            <a:endParaRPr b="1" sz="1800">
              <a:solidFill>
                <a:schemeClr val="lt1"/>
              </a:solidFill>
              <a:latin typeface="Chakra Petch"/>
              <a:ea typeface="Chakra Petch"/>
              <a:cs typeface="Chakra Petch"/>
              <a:sym typeface="Chakra Petch"/>
            </a:endParaRPr>
          </a:p>
          <a:p>
            <a:pPr indent="-342900" lvl="0" marL="457200" rtl="0" algn="l">
              <a:lnSpc>
                <a:spcPct val="115000"/>
              </a:lnSpc>
              <a:spcBef>
                <a:spcPts val="0"/>
              </a:spcBef>
              <a:spcAft>
                <a:spcPts val="0"/>
              </a:spcAft>
              <a:buClr>
                <a:schemeClr val="lt1"/>
              </a:buClr>
              <a:buSzPts val="1800"/>
              <a:buFont typeface="Chakra Petch"/>
              <a:buAutoNum type="arabicPeriod"/>
            </a:pPr>
            <a:r>
              <a:rPr b="1" lang="en" sz="1800">
                <a:solidFill>
                  <a:schemeClr val="lt1"/>
                </a:solidFill>
                <a:latin typeface="Chakra Petch"/>
                <a:ea typeface="Chakra Petch"/>
                <a:cs typeface="Chakra Petch"/>
                <a:sym typeface="Chakra Petch"/>
              </a:rPr>
              <a:t>Separated features and labels.</a:t>
            </a:r>
            <a:endParaRPr b="1" sz="1800">
              <a:solidFill>
                <a:schemeClr val="lt1"/>
              </a:solidFill>
              <a:latin typeface="Chakra Petch"/>
              <a:ea typeface="Chakra Petch"/>
              <a:cs typeface="Chakra Petch"/>
              <a:sym typeface="Chakra Petch"/>
            </a:endParaRPr>
          </a:p>
          <a:p>
            <a:pPr indent="-342900" lvl="0" marL="457200" rtl="0" algn="l">
              <a:lnSpc>
                <a:spcPct val="115000"/>
              </a:lnSpc>
              <a:spcBef>
                <a:spcPts val="0"/>
              </a:spcBef>
              <a:spcAft>
                <a:spcPts val="0"/>
              </a:spcAft>
              <a:buClr>
                <a:schemeClr val="lt1"/>
              </a:buClr>
              <a:buSzPts val="1800"/>
              <a:buFont typeface="Chakra Petch"/>
              <a:buAutoNum type="arabicPeriod"/>
            </a:pPr>
            <a:r>
              <a:rPr b="1" lang="en" sz="1800">
                <a:solidFill>
                  <a:schemeClr val="lt1"/>
                </a:solidFill>
                <a:latin typeface="Chakra Petch"/>
                <a:ea typeface="Chakra Petch"/>
                <a:cs typeface="Chakra Petch"/>
                <a:sym typeface="Chakra Petch"/>
              </a:rPr>
              <a:t>Train/Test split (80/20)</a:t>
            </a:r>
            <a:endParaRPr b="1" sz="1800">
              <a:solidFill>
                <a:schemeClr val="lt1"/>
              </a:solidFill>
              <a:latin typeface="Chakra Petch"/>
              <a:ea typeface="Chakra Petch"/>
              <a:cs typeface="Chakra Petch"/>
              <a:sym typeface="Chakra Petch"/>
            </a:endParaRPr>
          </a:p>
          <a:p>
            <a:pPr indent="-342900" lvl="0" marL="457200" rtl="0" algn="l">
              <a:lnSpc>
                <a:spcPct val="115000"/>
              </a:lnSpc>
              <a:spcBef>
                <a:spcPts val="0"/>
              </a:spcBef>
              <a:spcAft>
                <a:spcPts val="0"/>
              </a:spcAft>
              <a:buClr>
                <a:schemeClr val="lt1"/>
              </a:buClr>
              <a:buSzPts val="1800"/>
              <a:buFont typeface="Chakra Petch"/>
              <a:buAutoNum type="arabicPeriod"/>
            </a:pPr>
            <a:r>
              <a:rPr b="1" lang="en" sz="1800">
                <a:solidFill>
                  <a:schemeClr val="lt1"/>
                </a:solidFill>
                <a:latin typeface="Chakra Petch"/>
                <a:ea typeface="Chakra Petch"/>
                <a:cs typeface="Chakra Petch"/>
                <a:sym typeface="Chakra Petch"/>
              </a:rPr>
              <a:t>Feature Scaling using StandardScalar</a:t>
            </a:r>
            <a:endParaRPr b="1" sz="1800">
              <a:solidFill>
                <a:schemeClr val="lt1"/>
              </a:solidFill>
              <a:latin typeface="Chakra Petch"/>
              <a:ea typeface="Chakra Petch"/>
              <a:cs typeface="Chakra Petch"/>
              <a:sym typeface="Chakra Petch"/>
            </a:endParaRPr>
          </a:p>
          <a:p>
            <a:pPr indent="-342900" lvl="0" marL="457200" rtl="0" algn="l">
              <a:lnSpc>
                <a:spcPct val="115000"/>
              </a:lnSpc>
              <a:spcBef>
                <a:spcPts val="0"/>
              </a:spcBef>
              <a:spcAft>
                <a:spcPts val="0"/>
              </a:spcAft>
              <a:buClr>
                <a:schemeClr val="lt1"/>
              </a:buClr>
              <a:buSzPts val="1800"/>
              <a:buFont typeface="Chakra Petch"/>
              <a:buAutoNum type="arabicPeriod"/>
            </a:pPr>
            <a:r>
              <a:rPr b="1" lang="en" sz="1800">
                <a:solidFill>
                  <a:schemeClr val="lt1"/>
                </a:solidFill>
                <a:latin typeface="Chakra Petch"/>
                <a:ea typeface="Chakra Petch"/>
                <a:cs typeface="Chakra Petch"/>
                <a:sym typeface="Chakra Petch"/>
              </a:rPr>
              <a:t>Converted data to PyTorch tensors</a:t>
            </a:r>
            <a:endParaRPr b="1" sz="1800">
              <a:solidFill>
                <a:schemeClr val="lt1"/>
              </a:solidFill>
              <a:latin typeface="Chakra Petch"/>
              <a:ea typeface="Chakra Petch"/>
              <a:cs typeface="Chakra Petch"/>
              <a:sym typeface="Chakra Petch"/>
            </a:endParaRPr>
          </a:p>
        </p:txBody>
      </p:sp>
      <p:pic>
        <p:nvPicPr>
          <p:cNvPr descr="University of Indianapolis logo" id="100" name="Google Shape;100;p18"/>
          <p:cNvPicPr preferRelativeResize="0"/>
          <p:nvPr/>
        </p:nvPicPr>
        <p:blipFill>
          <a:blip r:embed="rId4">
            <a:alphaModFix/>
          </a:blip>
          <a:stretch>
            <a:fillRect/>
          </a:stretch>
        </p:blipFill>
        <p:spPr>
          <a:xfrm>
            <a:off x="291763" y="4727137"/>
            <a:ext cx="3234174" cy="151675"/>
          </a:xfrm>
          <a:prstGeom prst="rect">
            <a:avLst/>
          </a:prstGeom>
          <a:noFill/>
          <a:ln>
            <a:noFill/>
          </a:ln>
        </p:spPr>
      </p:pic>
      <p:pic>
        <p:nvPicPr>
          <p:cNvPr descr="Hound logo" id="101" name="Google Shape;101;p18"/>
          <p:cNvPicPr preferRelativeResize="0"/>
          <p:nvPr/>
        </p:nvPicPr>
        <p:blipFill rotWithShape="1">
          <a:blip r:embed="rId5">
            <a:alphaModFix/>
          </a:blip>
          <a:srcRect b="0" l="0" r="0" t="0"/>
          <a:stretch/>
        </p:blipFill>
        <p:spPr>
          <a:xfrm>
            <a:off x="7991935" y="4636030"/>
            <a:ext cx="860314" cy="333891"/>
          </a:xfrm>
          <a:prstGeom prst="rect">
            <a:avLst/>
          </a:prstGeom>
          <a:noFill/>
          <a:ln>
            <a:noFill/>
          </a:ln>
        </p:spPr>
      </p:pic>
      <p:sp>
        <p:nvSpPr>
          <p:cNvPr id="102" name="Google Shape;102;p18"/>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descr="Text to the right of first number" id="108" name="Google Shape;108;p19"/>
          <p:cNvSpPr txBox="1"/>
          <p:nvPr/>
        </p:nvSpPr>
        <p:spPr>
          <a:xfrm>
            <a:off x="292450" y="3121325"/>
            <a:ext cx="27624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lt1"/>
              </a:buClr>
              <a:buSzPts val="1200"/>
              <a:buFont typeface="Proxima Nova"/>
              <a:buChar char="●"/>
            </a:pPr>
            <a:r>
              <a:rPr b="1" lang="en" sz="1200">
                <a:solidFill>
                  <a:schemeClr val="lt1"/>
                </a:solidFill>
                <a:latin typeface="Proxima Nova"/>
                <a:ea typeface="Proxima Nova"/>
                <a:cs typeface="Proxima Nova"/>
                <a:sym typeface="Proxima Nova"/>
              </a:rPr>
              <a:t>Linear Classifier</a:t>
            </a:r>
            <a:endParaRPr b="1" sz="1200">
              <a:solidFill>
                <a:schemeClr val="lt1"/>
              </a:solidFill>
              <a:latin typeface="Proxima Nova"/>
              <a:ea typeface="Proxima Nova"/>
              <a:cs typeface="Proxima Nova"/>
              <a:sym typeface="Proxima Nova"/>
            </a:endParaRPr>
          </a:p>
          <a:p>
            <a:pPr indent="-304800" lvl="0" marL="457200" rtl="0" algn="l">
              <a:lnSpc>
                <a:spcPct val="115000"/>
              </a:lnSpc>
              <a:spcBef>
                <a:spcPts val="0"/>
              </a:spcBef>
              <a:spcAft>
                <a:spcPts val="0"/>
              </a:spcAft>
              <a:buClr>
                <a:schemeClr val="lt1"/>
              </a:buClr>
              <a:buSzPts val="1200"/>
              <a:buFont typeface="Proxima Nova"/>
              <a:buChar char="●"/>
            </a:pPr>
            <a:r>
              <a:rPr b="1" lang="en" sz="1200">
                <a:solidFill>
                  <a:schemeClr val="lt1"/>
                </a:solidFill>
                <a:latin typeface="Proxima Nova"/>
                <a:ea typeface="Proxima Nova"/>
                <a:cs typeface="Proxima Nova"/>
                <a:sym typeface="Proxima Nova"/>
              </a:rPr>
              <a:t>Uses Sigmoid Activation</a:t>
            </a:r>
            <a:endParaRPr b="1" sz="1200">
              <a:solidFill>
                <a:schemeClr val="lt1"/>
              </a:solidFill>
              <a:latin typeface="Proxima Nova"/>
              <a:ea typeface="Proxima Nova"/>
              <a:cs typeface="Proxima Nova"/>
              <a:sym typeface="Proxima Nova"/>
            </a:endParaRPr>
          </a:p>
          <a:p>
            <a:pPr indent="-304800" lvl="0" marL="457200" rtl="0" algn="l">
              <a:lnSpc>
                <a:spcPct val="115000"/>
              </a:lnSpc>
              <a:spcBef>
                <a:spcPts val="0"/>
              </a:spcBef>
              <a:spcAft>
                <a:spcPts val="0"/>
              </a:spcAft>
              <a:buClr>
                <a:schemeClr val="lt1"/>
              </a:buClr>
              <a:buSzPts val="1200"/>
              <a:buFont typeface="Proxima Nova"/>
              <a:buChar char="●"/>
            </a:pPr>
            <a:r>
              <a:rPr b="1" lang="en" sz="1200">
                <a:solidFill>
                  <a:schemeClr val="lt1"/>
                </a:solidFill>
                <a:latin typeface="Proxima Nova"/>
                <a:ea typeface="Proxima Nova"/>
                <a:cs typeface="Proxima Nova"/>
                <a:sym typeface="Proxima Nova"/>
              </a:rPr>
              <a:t>Predicts fraud probability.</a:t>
            </a:r>
            <a:endParaRPr b="1" sz="1200">
              <a:solidFill>
                <a:schemeClr val="lt1"/>
              </a:solidFill>
              <a:latin typeface="Proxima Nova"/>
              <a:ea typeface="Proxima Nova"/>
              <a:cs typeface="Proxima Nova"/>
              <a:sym typeface="Proxima Nova"/>
            </a:endParaRPr>
          </a:p>
        </p:txBody>
      </p:sp>
      <p:sp>
        <p:nvSpPr>
          <p:cNvPr descr="Slide title" id="109" name="Google Shape;109;p19"/>
          <p:cNvSpPr txBox="1"/>
          <p:nvPr/>
        </p:nvSpPr>
        <p:spPr>
          <a:xfrm>
            <a:off x="745350" y="520350"/>
            <a:ext cx="2357700" cy="7389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Models Used</a:t>
            </a:r>
            <a:endParaRPr sz="4200">
              <a:solidFill>
                <a:schemeClr val="lt1"/>
              </a:solidFill>
              <a:latin typeface="Teko"/>
              <a:ea typeface="Teko"/>
              <a:cs typeface="Teko"/>
              <a:sym typeface="Teko"/>
            </a:endParaRPr>
          </a:p>
        </p:txBody>
      </p:sp>
      <p:cxnSp>
        <p:nvCxnSpPr>
          <p:cNvPr id="110" name="Google Shape;110;p19"/>
          <p:cNvCxnSpPr/>
          <p:nvPr/>
        </p:nvCxnSpPr>
        <p:spPr>
          <a:xfrm>
            <a:off x="-16700" y="1259250"/>
            <a:ext cx="2925600" cy="0"/>
          </a:xfrm>
          <a:prstGeom prst="straightConnector1">
            <a:avLst/>
          </a:prstGeom>
          <a:noFill/>
          <a:ln cap="flat" cmpd="sng" w="28575">
            <a:solidFill>
              <a:schemeClr val="lt1"/>
            </a:solidFill>
            <a:prstDash val="solid"/>
            <a:round/>
            <a:headEnd len="med" w="med" type="none"/>
            <a:tailEnd len="med" w="med" type="none"/>
          </a:ln>
        </p:spPr>
      </p:cxnSp>
      <p:sp>
        <p:nvSpPr>
          <p:cNvPr descr="Subtitle" id="111" name="Google Shape;111;p19"/>
          <p:cNvSpPr txBox="1"/>
          <p:nvPr/>
        </p:nvSpPr>
        <p:spPr>
          <a:xfrm>
            <a:off x="340600" y="1352525"/>
            <a:ext cx="3308100" cy="47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lt1"/>
                </a:solidFill>
                <a:latin typeface="Chakra Petch SemiBold"/>
                <a:ea typeface="Chakra Petch SemiBold"/>
                <a:cs typeface="Chakra Petch SemiBold"/>
                <a:sym typeface="Chakra Petch SemiBold"/>
              </a:rPr>
              <a:t>Two models were trained:</a:t>
            </a:r>
            <a:endParaRPr sz="2000">
              <a:solidFill>
                <a:schemeClr val="lt1"/>
              </a:solidFill>
              <a:latin typeface="Chakra Petch SemiBold"/>
              <a:ea typeface="Chakra Petch SemiBold"/>
              <a:cs typeface="Chakra Petch SemiBold"/>
              <a:sym typeface="Chakra Petch SemiBold"/>
            </a:endParaRPr>
          </a:p>
        </p:txBody>
      </p:sp>
      <p:sp>
        <p:nvSpPr>
          <p:cNvPr descr="First number" id="112" name="Google Shape;112;p19"/>
          <p:cNvSpPr txBox="1"/>
          <p:nvPr/>
        </p:nvSpPr>
        <p:spPr>
          <a:xfrm>
            <a:off x="340600" y="1981325"/>
            <a:ext cx="2666100" cy="66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Chakra Petch Medium"/>
                <a:ea typeface="Chakra Petch Medium"/>
                <a:cs typeface="Chakra Petch Medium"/>
                <a:sym typeface="Chakra Petch Medium"/>
              </a:rPr>
              <a:t>Logistic Regression</a:t>
            </a:r>
            <a:endParaRPr sz="200">
              <a:solidFill>
                <a:schemeClr val="lt1"/>
              </a:solidFill>
              <a:latin typeface="Chakra Petch Medium"/>
              <a:ea typeface="Chakra Petch Medium"/>
              <a:cs typeface="Chakra Petch Medium"/>
              <a:sym typeface="Chakra Petch Medium"/>
            </a:endParaRPr>
          </a:p>
        </p:txBody>
      </p:sp>
      <p:pic>
        <p:nvPicPr>
          <p:cNvPr descr="University of Indianapolis logo" id="113" name="Google Shape;113;p19"/>
          <p:cNvPicPr preferRelativeResize="0"/>
          <p:nvPr/>
        </p:nvPicPr>
        <p:blipFill>
          <a:blip r:embed="rId4">
            <a:alphaModFix/>
          </a:blip>
          <a:stretch>
            <a:fillRect/>
          </a:stretch>
        </p:blipFill>
        <p:spPr>
          <a:xfrm>
            <a:off x="291763" y="4727137"/>
            <a:ext cx="3234174" cy="151675"/>
          </a:xfrm>
          <a:prstGeom prst="rect">
            <a:avLst/>
          </a:prstGeom>
          <a:noFill/>
          <a:ln>
            <a:noFill/>
          </a:ln>
        </p:spPr>
      </p:pic>
      <p:pic>
        <p:nvPicPr>
          <p:cNvPr descr="Hound logo" id="114" name="Google Shape;114;p19"/>
          <p:cNvPicPr preferRelativeResize="0"/>
          <p:nvPr/>
        </p:nvPicPr>
        <p:blipFill rotWithShape="1">
          <a:blip r:embed="rId5">
            <a:alphaModFix/>
          </a:blip>
          <a:srcRect b="0" l="0" r="0" t="0"/>
          <a:stretch/>
        </p:blipFill>
        <p:spPr>
          <a:xfrm>
            <a:off x="7991935" y="4636030"/>
            <a:ext cx="860314" cy="333891"/>
          </a:xfrm>
          <a:prstGeom prst="rect">
            <a:avLst/>
          </a:prstGeom>
          <a:noFill/>
          <a:ln>
            <a:noFill/>
          </a:ln>
        </p:spPr>
      </p:pic>
      <p:sp>
        <p:nvSpPr>
          <p:cNvPr id="115" name="Google Shape;115;p19"/>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descr="First number" id="116" name="Google Shape;116;p19"/>
          <p:cNvSpPr txBox="1"/>
          <p:nvPr/>
        </p:nvSpPr>
        <p:spPr>
          <a:xfrm>
            <a:off x="3428025" y="2039975"/>
            <a:ext cx="1208700" cy="66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Chakra Petch Medium"/>
                <a:ea typeface="Chakra Petch Medium"/>
                <a:cs typeface="Chakra Petch Medium"/>
                <a:sym typeface="Chakra Petch Medium"/>
              </a:rPr>
              <a:t>Neural Network</a:t>
            </a:r>
            <a:endParaRPr sz="200">
              <a:solidFill>
                <a:schemeClr val="lt1"/>
              </a:solidFill>
              <a:latin typeface="Chakra Petch Medium"/>
              <a:ea typeface="Chakra Petch Medium"/>
              <a:cs typeface="Chakra Petch Medium"/>
              <a:sym typeface="Chakra Petch Medium"/>
            </a:endParaRPr>
          </a:p>
        </p:txBody>
      </p:sp>
      <p:sp>
        <p:nvSpPr>
          <p:cNvPr id="117" name="Google Shape;117;p19"/>
          <p:cNvSpPr/>
          <p:nvPr/>
        </p:nvSpPr>
        <p:spPr>
          <a:xfrm>
            <a:off x="6028225" y="204725"/>
            <a:ext cx="2875800" cy="88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hakra Petch Medium"/>
              <a:ea typeface="Chakra Petch Medium"/>
              <a:cs typeface="Chakra Petch Medium"/>
              <a:sym typeface="Chakra Petch Medium"/>
            </a:endParaRPr>
          </a:p>
        </p:txBody>
      </p:sp>
      <p:sp>
        <p:nvSpPr>
          <p:cNvPr id="118" name="Google Shape;118;p19"/>
          <p:cNvSpPr/>
          <p:nvPr/>
        </p:nvSpPr>
        <p:spPr>
          <a:xfrm>
            <a:off x="6028225" y="1352525"/>
            <a:ext cx="2875800" cy="88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hakra Petch Medium"/>
              <a:ea typeface="Chakra Petch Medium"/>
              <a:cs typeface="Chakra Petch Medium"/>
              <a:sym typeface="Chakra Petch Medium"/>
            </a:endParaRPr>
          </a:p>
        </p:txBody>
      </p:sp>
      <p:sp>
        <p:nvSpPr>
          <p:cNvPr id="119" name="Google Shape;119;p19"/>
          <p:cNvSpPr/>
          <p:nvPr/>
        </p:nvSpPr>
        <p:spPr>
          <a:xfrm>
            <a:off x="6028225" y="2500325"/>
            <a:ext cx="2875800" cy="88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hakra Petch Medium"/>
              <a:ea typeface="Chakra Petch Medium"/>
              <a:cs typeface="Chakra Petch Medium"/>
              <a:sym typeface="Chakra Petch Medium"/>
            </a:endParaRPr>
          </a:p>
        </p:txBody>
      </p:sp>
      <p:sp>
        <p:nvSpPr>
          <p:cNvPr id="120" name="Google Shape;120;p19"/>
          <p:cNvSpPr/>
          <p:nvPr/>
        </p:nvSpPr>
        <p:spPr>
          <a:xfrm>
            <a:off x="6028225" y="3648113"/>
            <a:ext cx="2875800" cy="88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hakra Petch Medium"/>
              <a:ea typeface="Chakra Petch Medium"/>
              <a:cs typeface="Chakra Petch Medium"/>
              <a:sym typeface="Chakra Petch Medium"/>
            </a:endParaRPr>
          </a:p>
        </p:txBody>
      </p:sp>
      <p:cxnSp>
        <p:nvCxnSpPr>
          <p:cNvPr id="121" name="Google Shape;121;p19"/>
          <p:cNvCxnSpPr>
            <a:stCxn id="117" idx="2"/>
            <a:endCxn id="118" idx="0"/>
          </p:cNvCxnSpPr>
          <p:nvPr/>
        </p:nvCxnSpPr>
        <p:spPr>
          <a:xfrm>
            <a:off x="7466125" y="1093025"/>
            <a:ext cx="0" cy="259500"/>
          </a:xfrm>
          <a:prstGeom prst="straightConnector1">
            <a:avLst/>
          </a:prstGeom>
          <a:noFill/>
          <a:ln cap="flat" cmpd="sng" w="28575">
            <a:solidFill>
              <a:schemeClr val="lt1"/>
            </a:solidFill>
            <a:prstDash val="solid"/>
            <a:round/>
            <a:headEnd len="med" w="med" type="none"/>
            <a:tailEnd len="med" w="med" type="triangle"/>
          </a:ln>
        </p:spPr>
      </p:cxnSp>
      <p:cxnSp>
        <p:nvCxnSpPr>
          <p:cNvPr id="122" name="Google Shape;122;p19"/>
          <p:cNvCxnSpPr>
            <a:stCxn id="118" idx="2"/>
            <a:endCxn id="119" idx="0"/>
          </p:cNvCxnSpPr>
          <p:nvPr/>
        </p:nvCxnSpPr>
        <p:spPr>
          <a:xfrm>
            <a:off x="7466125" y="2240825"/>
            <a:ext cx="0" cy="259500"/>
          </a:xfrm>
          <a:prstGeom prst="straightConnector1">
            <a:avLst/>
          </a:prstGeom>
          <a:noFill/>
          <a:ln cap="flat" cmpd="sng" w="28575">
            <a:solidFill>
              <a:schemeClr val="lt1"/>
            </a:solidFill>
            <a:prstDash val="solid"/>
            <a:round/>
            <a:headEnd len="med" w="med" type="none"/>
            <a:tailEnd len="med" w="med" type="triangle"/>
          </a:ln>
        </p:spPr>
      </p:cxnSp>
      <p:cxnSp>
        <p:nvCxnSpPr>
          <p:cNvPr id="123" name="Google Shape;123;p19"/>
          <p:cNvCxnSpPr>
            <a:stCxn id="119" idx="2"/>
            <a:endCxn id="120" idx="0"/>
          </p:cNvCxnSpPr>
          <p:nvPr/>
        </p:nvCxnSpPr>
        <p:spPr>
          <a:xfrm>
            <a:off x="7466125" y="3388625"/>
            <a:ext cx="0" cy="259500"/>
          </a:xfrm>
          <a:prstGeom prst="straightConnector1">
            <a:avLst/>
          </a:prstGeom>
          <a:noFill/>
          <a:ln cap="flat" cmpd="sng" w="28575">
            <a:solidFill>
              <a:schemeClr val="lt1"/>
            </a:solidFill>
            <a:prstDash val="solid"/>
            <a:round/>
            <a:headEnd len="med" w="med" type="none"/>
            <a:tailEnd len="med" w="med" type="triangle"/>
          </a:ln>
        </p:spPr>
      </p:cxnSp>
      <p:sp>
        <p:nvSpPr>
          <p:cNvPr id="124" name="Google Shape;124;p19"/>
          <p:cNvSpPr txBox="1"/>
          <p:nvPr/>
        </p:nvSpPr>
        <p:spPr>
          <a:xfrm>
            <a:off x="6112275" y="318425"/>
            <a:ext cx="2628600" cy="6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Teko Medium"/>
                <a:ea typeface="Teko Medium"/>
                <a:cs typeface="Teko Medium"/>
                <a:sym typeface="Teko Medium"/>
              </a:rPr>
              <a:t>Input Layer</a:t>
            </a:r>
            <a:endParaRPr sz="1800">
              <a:solidFill>
                <a:schemeClr val="dk2"/>
              </a:solidFill>
              <a:latin typeface="Teko Medium"/>
              <a:ea typeface="Teko Medium"/>
              <a:cs typeface="Teko Medium"/>
              <a:sym typeface="Teko Medium"/>
            </a:endParaRPr>
          </a:p>
          <a:p>
            <a:pPr indent="0" lvl="0" marL="0" rtl="0" algn="l">
              <a:spcBef>
                <a:spcPts val="0"/>
              </a:spcBef>
              <a:spcAft>
                <a:spcPts val="0"/>
              </a:spcAft>
              <a:buNone/>
            </a:pPr>
            <a:r>
              <a:rPr lang="en" sz="1800">
                <a:solidFill>
                  <a:schemeClr val="dk2"/>
                </a:solidFill>
                <a:latin typeface="Teko Medium"/>
                <a:ea typeface="Teko Medium"/>
                <a:cs typeface="Teko Medium"/>
                <a:sym typeface="Teko Medium"/>
              </a:rPr>
              <a:t>(30 Features)</a:t>
            </a:r>
            <a:endParaRPr sz="1800">
              <a:solidFill>
                <a:schemeClr val="dk2"/>
              </a:solidFill>
              <a:latin typeface="Teko Medium"/>
              <a:ea typeface="Teko Medium"/>
              <a:cs typeface="Teko Medium"/>
              <a:sym typeface="Teko Medium"/>
            </a:endParaRPr>
          </a:p>
        </p:txBody>
      </p:sp>
      <p:sp>
        <p:nvSpPr>
          <p:cNvPr id="125" name="Google Shape;125;p19"/>
          <p:cNvSpPr txBox="1"/>
          <p:nvPr/>
        </p:nvSpPr>
        <p:spPr>
          <a:xfrm>
            <a:off x="6151825" y="1409375"/>
            <a:ext cx="2628600" cy="7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Teko Medium"/>
                <a:ea typeface="Teko Medium"/>
                <a:cs typeface="Teko Medium"/>
                <a:sym typeface="Teko Medium"/>
              </a:rPr>
              <a:t>Hidden Layer 1</a:t>
            </a:r>
            <a:endParaRPr sz="1800">
              <a:solidFill>
                <a:schemeClr val="dk2"/>
              </a:solidFill>
              <a:latin typeface="Teko Medium"/>
              <a:ea typeface="Teko Medium"/>
              <a:cs typeface="Teko Medium"/>
              <a:sym typeface="Teko Medium"/>
            </a:endParaRPr>
          </a:p>
          <a:p>
            <a:pPr indent="0" lvl="0" marL="0" rtl="0" algn="l">
              <a:spcBef>
                <a:spcPts val="0"/>
              </a:spcBef>
              <a:spcAft>
                <a:spcPts val="0"/>
              </a:spcAft>
              <a:buNone/>
            </a:pPr>
            <a:r>
              <a:rPr lang="en" sz="1800">
                <a:solidFill>
                  <a:schemeClr val="dk2"/>
                </a:solidFill>
                <a:latin typeface="Teko Medium"/>
                <a:ea typeface="Teko Medium"/>
                <a:cs typeface="Teko Medium"/>
                <a:sym typeface="Teko Medium"/>
              </a:rPr>
              <a:t>64 neurons, ReLU activation</a:t>
            </a:r>
            <a:endParaRPr sz="1800">
              <a:solidFill>
                <a:schemeClr val="dk2"/>
              </a:solidFill>
              <a:latin typeface="Teko Medium"/>
              <a:ea typeface="Teko Medium"/>
              <a:cs typeface="Teko Medium"/>
              <a:sym typeface="Teko Medium"/>
            </a:endParaRPr>
          </a:p>
        </p:txBody>
      </p:sp>
      <p:sp>
        <p:nvSpPr>
          <p:cNvPr id="126" name="Google Shape;126;p19"/>
          <p:cNvSpPr txBox="1"/>
          <p:nvPr/>
        </p:nvSpPr>
        <p:spPr>
          <a:xfrm>
            <a:off x="6112275" y="2533925"/>
            <a:ext cx="2628600" cy="8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Teko Medium"/>
                <a:ea typeface="Teko Medium"/>
                <a:cs typeface="Teko Medium"/>
                <a:sym typeface="Teko Medium"/>
              </a:rPr>
              <a:t>Hidden Layer 2</a:t>
            </a:r>
            <a:endParaRPr sz="1800">
              <a:solidFill>
                <a:schemeClr val="dk2"/>
              </a:solidFill>
              <a:latin typeface="Teko Medium"/>
              <a:ea typeface="Teko Medium"/>
              <a:cs typeface="Teko Medium"/>
              <a:sym typeface="Teko Medium"/>
            </a:endParaRPr>
          </a:p>
          <a:p>
            <a:pPr indent="0" lvl="0" marL="0" rtl="0" algn="l">
              <a:spcBef>
                <a:spcPts val="0"/>
              </a:spcBef>
              <a:spcAft>
                <a:spcPts val="0"/>
              </a:spcAft>
              <a:buNone/>
            </a:pPr>
            <a:r>
              <a:rPr lang="en" sz="1800">
                <a:solidFill>
                  <a:schemeClr val="dk2"/>
                </a:solidFill>
                <a:latin typeface="Teko Medium"/>
                <a:ea typeface="Teko Medium"/>
                <a:cs typeface="Teko Medium"/>
                <a:sym typeface="Teko Medium"/>
              </a:rPr>
              <a:t>32 neurons, ReLU activation</a:t>
            </a:r>
            <a:endParaRPr sz="1800">
              <a:solidFill>
                <a:schemeClr val="dk2"/>
              </a:solidFill>
              <a:latin typeface="Teko Medium"/>
              <a:ea typeface="Teko Medium"/>
              <a:cs typeface="Teko Medium"/>
              <a:sym typeface="Teko Medium"/>
            </a:endParaRPr>
          </a:p>
        </p:txBody>
      </p:sp>
      <p:sp>
        <p:nvSpPr>
          <p:cNvPr id="127" name="Google Shape;127;p19"/>
          <p:cNvSpPr txBox="1"/>
          <p:nvPr/>
        </p:nvSpPr>
        <p:spPr>
          <a:xfrm>
            <a:off x="6151825" y="3648125"/>
            <a:ext cx="2628600" cy="8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Teko Medium"/>
                <a:ea typeface="Teko Medium"/>
                <a:cs typeface="Teko Medium"/>
                <a:sym typeface="Teko Medium"/>
              </a:rPr>
              <a:t>Outer Layer</a:t>
            </a:r>
            <a:endParaRPr sz="1800">
              <a:solidFill>
                <a:schemeClr val="dk2"/>
              </a:solidFill>
              <a:latin typeface="Teko Medium"/>
              <a:ea typeface="Teko Medium"/>
              <a:cs typeface="Teko Medium"/>
              <a:sym typeface="Teko Medium"/>
            </a:endParaRPr>
          </a:p>
          <a:p>
            <a:pPr indent="0" lvl="0" marL="0" rtl="0" algn="l">
              <a:spcBef>
                <a:spcPts val="0"/>
              </a:spcBef>
              <a:spcAft>
                <a:spcPts val="0"/>
              </a:spcAft>
              <a:buNone/>
            </a:pPr>
            <a:r>
              <a:rPr lang="en" sz="1800">
                <a:solidFill>
                  <a:schemeClr val="dk2"/>
                </a:solidFill>
                <a:latin typeface="Teko Medium"/>
                <a:ea typeface="Teko Medium"/>
                <a:cs typeface="Teko Medium"/>
                <a:sym typeface="Teko Medium"/>
              </a:rPr>
              <a:t>1 neuron, fraud / not fraud</a:t>
            </a:r>
            <a:endParaRPr sz="1800">
              <a:solidFill>
                <a:schemeClr val="dk2"/>
              </a:solidFill>
              <a:latin typeface="Teko Medium"/>
              <a:ea typeface="Teko Medium"/>
              <a:cs typeface="Teko Medium"/>
              <a:sym typeface="Teko Medium"/>
            </a:endParaRPr>
          </a:p>
        </p:txBody>
      </p:sp>
      <p:sp>
        <p:nvSpPr>
          <p:cNvPr descr="First number" id="128" name="Google Shape;128;p19"/>
          <p:cNvSpPr txBox="1"/>
          <p:nvPr/>
        </p:nvSpPr>
        <p:spPr>
          <a:xfrm>
            <a:off x="4572000" y="1204175"/>
            <a:ext cx="1734600" cy="233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0">
                <a:solidFill>
                  <a:schemeClr val="lt1"/>
                </a:solidFill>
                <a:latin typeface="Chakra Petch Medium"/>
                <a:ea typeface="Chakra Petch Medium"/>
                <a:cs typeface="Chakra Petch Medium"/>
                <a:sym typeface="Chakra Petch Medium"/>
              </a:rPr>
              <a:t>{</a:t>
            </a:r>
            <a:endParaRPr sz="28200">
              <a:solidFill>
                <a:schemeClr val="lt1"/>
              </a:solidFill>
              <a:latin typeface="Chakra Petch Medium"/>
              <a:ea typeface="Chakra Petch Medium"/>
              <a:cs typeface="Chakra Petch Medium"/>
              <a:sym typeface="Chakra Petch Medium"/>
            </a:endParaRPr>
          </a:p>
        </p:txBody>
      </p:sp>
      <p:cxnSp>
        <p:nvCxnSpPr>
          <p:cNvPr id="129" name="Google Shape;129;p19"/>
          <p:cNvCxnSpPr>
            <a:stCxn id="112" idx="2"/>
            <a:endCxn id="108" idx="0"/>
          </p:cNvCxnSpPr>
          <p:nvPr/>
        </p:nvCxnSpPr>
        <p:spPr>
          <a:xfrm>
            <a:off x="1673650" y="2642525"/>
            <a:ext cx="0" cy="478800"/>
          </a:xfrm>
          <a:prstGeom prst="straightConnector1">
            <a:avLst/>
          </a:prstGeom>
          <a:noFill/>
          <a:ln cap="flat" cmpd="sng" w="38100">
            <a:solidFill>
              <a:schemeClr val="lt1"/>
            </a:solidFill>
            <a:prstDash val="solid"/>
            <a:round/>
            <a:headEnd len="med" w="med" type="none"/>
            <a:tailEnd len="med" w="med" type="triangle"/>
          </a:ln>
        </p:spPr>
      </p:cxnSp>
      <p:cxnSp>
        <p:nvCxnSpPr>
          <p:cNvPr id="130" name="Google Shape;130;p19"/>
          <p:cNvCxnSpPr>
            <a:stCxn id="128" idx="1"/>
          </p:cNvCxnSpPr>
          <p:nvPr/>
        </p:nvCxnSpPr>
        <p:spPr>
          <a:xfrm>
            <a:off x="4572000" y="2370575"/>
            <a:ext cx="386400" cy="8700"/>
          </a:xfrm>
          <a:prstGeom prst="straightConnector1">
            <a:avLst/>
          </a:prstGeom>
          <a:noFill/>
          <a:ln cap="flat" cmpd="sng" w="38100">
            <a:solidFill>
              <a:schemeClr val="lt1"/>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descr="Slide title" id="136" name="Google Shape;136;p20"/>
          <p:cNvSpPr txBox="1"/>
          <p:nvPr/>
        </p:nvSpPr>
        <p:spPr>
          <a:xfrm>
            <a:off x="745350" y="520350"/>
            <a:ext cx="2896500" cy="7389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Model Training</a:t>
            </a:r>
            <a:endParaRPr sz="4200">
              <a:solidFill>
                <a:schemeClr val="lt1"/>
              </a:solidFill>
              <a:latin typeface="Teko"/>
              <a:ea typeface="Teko"/>
              <a:cs typeface="Teko"/>
              <a:sym typeface="Teko"/>
            </a:endParaRPr>
          </a:p>
        </p:txBody>
      </p:sp>
      <p:cxnSp>
        <p:nvCxnSpPr>
          <p:cNvPr id="137" name="Google Shape;137;p20"/>
          <p:cNvCxnSpPr/>
          <p:nvPr/>
        </p:nvCxnSpPr>
        <p:spPr>
          <a:xfrm>
            <a:off x="-16700" y="1259250"/>
            <a:ext cx="3274200" cy="0"/>
          </a:xfrm>
          <a:prstGeom prst="straightConnector1">
            <a:avLst/>
          </a:prstGeom>
          <a:noFill/>
          <a:ln cap="flat" cmpd="sng" w="28575">
            <a:solidFill>
              <a:schemeClr val="lt1"/>
            </a:solidFill>
            <a:prstDash val="solid"/>
            <a:round/>
            <a:headEnd len="med" w="med" type="none"/>
            <a:tailEnd len="med" w="med" type="none"/>
          </a:ln>
        </p:spPr>
      </p:cxnSp>
      <p:sp>
        <p:nvSpPr>
          <p:cNvPr descr="Slide description" id="138" name="Google Shape;138;p20"/>
          <p:cNvSpPr txBox="1"/>
          <p:nvPr/>
        </p:nvSpPr>
        <p:spPr>
          <a:xfrm>
            <a:off x="229175" y="1509475"/>
            <a:ext cx="8529900" cy="257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Semibold"/>
                <a:ea typeface="Proxima Nova Semibold"/>
                <a:cs typeface="Proxima Nova Semibold"/>
                <a:sym typeface="Proxima Nova Semibold"/>
              </a:rPr>
              <a:t>Training Method 		 		Mini-Batch Gradient Descent</a:t>
            </a:r>
            <a:endParaRPr sz="18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18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800">
                <a:solidFill>
                  <a:schemeClr val="lt1"/>
                </a:solidFill>
                <a:latin typeface="Proxima Nova Semibold"/>
                <a:ea typeface="Proxima Nova Semibold"/>
                <a:cs typeface="Proxima Nova Semibold"/>
                <a:sym typeface="Proxima Nova Semibold"/>
              </a:rPr>
              <a:t>Training Steps:</a:t>
            </a:r>
            <a:endParaRPr sz="1800">
              <a:solidFill>
                <a:schemeClr val="lt1"/>
              </a:solidFill>
              <a:latin typeface="Proxima Nova Semibold"/>
              <a:ea typeface="Proxima Nova Semibold"/>
              <a:cs typeface="Proxima Nova Semibold"/>
              <a:sym typeface="Proxima Nova Semibold"/>
            </a:endParaRPr>
          </a:p>
          <a:p>
            <a:pPr indent="-342900" lvl="0" marL="1371600" rtl="0" algn="l">
              <a:spcBef>
                <a:spcPts val="0"/>
              </a:spcBef>
              <a:spcAft>
                <a:spcPts val="0"/>
              </a:spcAft>
              <a:buClr>
                <a:schemeClr val="lt1"/>
              </a:buClr>
              <a:buSzPts val="1800"/>
              <a:buFont typeface="Proxima Nova Semibold"/>
              <a:buAutoNum type="arabicPeriod"/>
            </a:pPr>
            <a:r>
              <a:rPr lang="en" sz="1800">
                <a:solidFill>
                  <a:schemeClr val="lt1"/>
                </a:solidFill>
                <a:latin typeface="Proxima Nova Semibold"/>
                <a:ea typeface="Proxima Nova Semibold"/>
                <a:cs typeface="Proxima Nova Semibold"/>
                <a:sym typeface="Proxima Nova Semibold"/>
              </a:rPr>
              <a:t>Forward Pass</a:t>
            </a:r>
            <a:endParaRPr sz="1800">
              <a:solidFill>
                <a:schemeClr val="lt1"/>
              </a:solidFill>
              <a:latin typeface="Proxima Nova Semibold"/>
              <a:ea typeface="Proxima Nova Semibold"/>
              <a:cs typeface="Proxima Nova Semibold"/>
              <a:sym typeface="Proxima Nova Semibold"/>
            </a:endParaRPr>
          </a:p>
          <a:p>
            <a:pPr indent="-342900" lvl="0" marL="1371600" rtl="0" algn="l">
              <a:spcBef>
                <a:spcPts val="0"/>
              </a:spcBef>
              <a:spcAft>
                <a:spcPts val="0"/>
              </a:spcAft>
              <a:buClr>
                <a:schemeClr val="lt1"/>
              </a:buClr>
              <a:buSzPts val="1800"/>
              <a:buFont typeface="Proxima Nova Semibold"/>
              <a:buAutoNum type="arabicPeriod"/>
            </a:pPr>
            <a:r>
              <a:rPr lang="en" sz="1800">
                <a:solidFill>
                  <a:schemeClr val="lt1"/>
                </a:solidFill>
                <a:latin typeface="Proxima Nova Semibold"/>
                <a:ea typeface="Proxima Nova Semibold"/>
                <a:cs typeface="Proxima Nova Semibold"/>
                <a:sym typeface="Proxima Nova Semibold"/>
              </a:rPr>
              <a:t>Compute Loss</a:t>
            </a:r>
            <a:endParaRPr sz="1800">
              <a:solidFill>
                <a:schemeClr val="lt1"/>
              </a:solidFill>
              <a:latin typeface="Proxima Nova Semibold"/>
              <a:ea typeface="Proxima Nova Semibold"/>
              <a:cs typeface="Proxima Nova Semibold"/>
              <a:sym typeface="Proxima Nova Semibold"/>
            </a:endParaRPr>
          </a:p>
          <a:p>
            <a:pPr indent="-342900" lvl="0" marL="1371600" rtl="0" algn="l">
              <a:spcBef>
                <a:spcPts val="0"/>
              </a:spcBef>
              <a:spcAft>
                <a:spcPts val="0"/>
              </a:spcAft>
              <a:buClr>
                <a:schemeClr val="lt1"/>
              </a:buClr>
              <a:buSzPts val="1800"/>
              <a:buFont typeface="Proxima Nova Semibold"/>
              <a:buAutoNum type="arabicPeriod"/>
            </a:pPr>
            <a:r>
              <a:rPr lang="en" sz="1800">
                <a:solidFill>
                  <a:schemeClr val="lt1"/>
                </a:solidFill>
                <a:latin typeface="Proxima Nova Semibold"/>
                <a:ea typeface="Proxima Nova Semibold"/>
                <a:cs typeface="Proxima Nova Semibold"/>
                <a:sym typeface="Proxima Nova Semibold"/>
              </a:rPr>
              <a:t>Backpropagation</a:t>
            </a:r>
            <a:endParaRPr sz="1800">
              <a:solidFill>
                <a:schemeClr val="lt1"/>
              </a:solidFill>
              <a:latin typeface="Proxima Nova Semibold"/>
              <a:ea typeface="Proxima Nova Semibold"/>
              <a:cs typeface="Proxima Nova Semibold"/>
              <a:sym typeface="Proxima Nova Semibold"/>
            </a:endParaRPr>
          </a:p>
          <a:p>
            <a:pPr indent="-342900" lvl="0" marL="1371600" rtl="0" algn="l">
              <a:spcBef>
                <a:spcPts val="0"/>
              </a:spcBef>
              <a:spcAft>
                <a:spcPts val="0"/>
              </a:spcAft>
              <a:buClr>
                <a:schemeClr val="lt1"/>
              </a:buClr>
              <a:buSzPts val="1800"/>
              <a:buFont typeface="Proxima Nova Semibold"/>
              <a:buAutoNum type="arabicPeriod"/>
            </a:pPr>
            <a:r>
              <a:rPr lang="en" sz="1800">
                <a:solidFill>
                  <a:schemeClr val="lt1"/>
                </a:solidFill>
                <a:latin typeface="Proxima Nova Semibold"/>
                <a:ea typeface="Proxima Nova Semibold"/>
                <a:cs typeface="Proxima Nova Semibold"/>
                <a:sym typeface="Proxima Nova Semibold"/>
              </a:rPr>
              <a:t>Update model weights</a:t>
            </a:r>
            <a:endParaRPr sz="18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18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800">
                <a:solidFill>
                  <a:schemeClr val="lt1"/>
                </a:solidFill>
                <a:latin typeface="Proxima Nova Semibold"/>
                <a:ea typeface="Proxima Nova Semibold"/>
                <a:cs typeface="Proxima Nova Semibold"/>
                <a:sym typeface="Proxima Nova Semibold"/>
              </a:rPr>
              <a:t>Optimizer: Adam</a:t>
            </a:r>
            <a:endParaRPr sz="18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800">
                <a:solidFill>
                  <a:schemeClr val="lt1"/>
                </a:solidFill>
                <a:latin typeface="Proxima Nova Semibold"/>
                <a:ea typeface="Proxima Nova Semibold"/>
                <a:cs typeface="Proxima Nova Semibold"/>
                <a:sym typeface="Proxima Nova Semibold"/>
              </a:rPr>
              <a:t>Loss Function: Binary Cross Entropy</a:t>
            </a:r>
            <a:endParaRPr sz="1800">
              <a:solidFill>
                <a:schemeClr val="lt1"/>
              </a:solidFill>
              <a:latin typeface="Proxima Nova Semibold"/>
              <a:ea typeface="Proxima Nova Semibold"/>
              <a:cs typeface="Proxima Nova Semibold"/>
              <a:sym typeface="Proxima Nova Semibold"/>
            </a:endParaRPr>
          </a:p>
        </p:txBody>
      </p:sp>
      <p:pic>
        <p:nvPicPr>
          <p:cNvPr descr="Hound logo" id="139" name="Google Shape;139;p20"/>
          <p:cNvPicPr preferRelativeResize="0"/>
          <p:nvPr/>
        </p:nvPicPr>
        <p:blipFill rotWithShape="1">
          <a:blip r:embed="rId4">
            <a:alphaModFix/>
          </a:blip>
          <a:srcRect b="0" l="0" r="0" t="0"/>
          <a:stretch/>
        </p:blipFill>
        <p:spPr>
          <a:xfrm>
            <a:off x="7991935" y="4636030"/>
            <a:ext cx="860314" cy="333891"/>
          </a:xfrm>
          <a:prstGeom prst="rect">
            <a:avLst/>
          </a:prstGeom>
          <a:noFill/>
          <a:ln>
            <a:noFill/>
          </a:ln>
        </p:spPr>
      </p:pic>
      <p:sp>
        <p:nvSpPr>
          <p:cNvPr id="140" name="Google Shape;140;p20"/>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descr="University of Indianapolis logo" id="141" name="Google Shape;141;p20"/>
          <p:cNvPicPr preferRelativeResize="0"/>
          <p:nvPr/>
        </p:nvPicPr>
        <p:blipFill>
          <a:blip r:embed="rId5">
            <a:alphaModFix/>
          </a:blip>
          <a:stretch>
            <a:fillRect/>
          </a:stretch>
        </p:blipFill>
        <p:spPr>
          <a:xfrm>
            <a:off x="291763" y="4727137"/>
            <a:ext cx="3234174" cy="151675"/>
          </a:xfrm>
          <a:prstGeom prst="rect">
            <a:avLst/>
          </a:prstGeom>
          <a:noFill/>
          <a:ln>
            <a:noFill/>
          </a:ln>
        </p:spPr>
      </p:pic>
      <p:cxnSp>
        <p:nvCxnSpPr>
          <p:cNvPr id="142" name="Google Shape;142;p20"/>
          <p:cNvCxnSpPr/>
          <p:nvPr/>
        </p:nvCxnSpPr>
        <p:spPr>
          <a:xfrm>
            <a:off x="2063425" y="1769425"/>
            <a:ext cx="1338000" cy="0"/>
          </a:xfrm>
          <a:prstGeom prst="straightConnector1">
            <a:avLst/>
          </a:prstGeom>
          <a:noFill/>
          <a:ln cap="flat" cmpd="sng" w="28575">
            <a:solidFill>
              <a:schemeClr val="lt1"/>
            </a:solidFill>
            <a:prstDash val="solid"/>
            <a:round/>
            <a:headEnd len="med" w="med"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descr="Slide title" id="148" name="Google Shape;148;p21"/>
          <p:cNvSpPr txBox="1"/>
          <p:nvPr/>
        </p:nvSpPr>
        <p:spPr>
          <a:xfrm>
            <a:off x="73475" y="669750"/>
            <a:ext cx="3234300" cy="11790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Logistic Regression Training Loss</a:t>
            </a:r>
            <a:endParaRPr sz="4200">
              <a:solidFill>
                <a:schemeClr val="lt1"/>
              </a:solidFill>
              <a:latin typeface="Teko"/>
              <a:ea typeface="Teko"/>
              <a:cs typeface="Teko"/>
              <a:sym typeface="Teko"/>
            </a:endParaRPr>
          </a:p>
        </p:txBody>
      </p:sp>
      <p:cxnSp>
        <p:nvCxnSpPr>
          <p:cNvPr id="149" name="Google Shape;149;p21"/>
          <p:cNvCxnSpPr/>
          <p:nvPr/>
        </p:nvCxnSpPr>
        <p:spPr>
          <a:xfrm>
            <a:off x="-16700" y="1259250"/>
            <a:ext cx="3274200" cy="0"/>
          </a:xfrm>
          <a:prstGeom prst="straightConnector1">
            <a:avLst/>
          </a:prstGeom>
          <a:noFill/>
          <a:ln cap="flat" cmpd="sng" w="28575">
            <a:solidFill>
              <a:schemeClr val="lt1"/>
            </a:solidFill>
            <a:prstDash val="solid"/>
            <a:round/>
            <a:headEnd len="med" w="med" type="none"/>
            <a:tailEnd len="med" w="med" type="none"/>
          </a:ln>
        </p:spPr>
      </p:cxnSp>
      <p:pic>
        <p:nvPicPr>
          <p:cNvPr descr="Hound logo" id="150" name="Google Shape;150;p21"/>
          <p:cNvPicPr preferRelativeResize="0"/>
          <p:nvPr/>
        </p:nvPicPr>
        <p:blipFill rotWithShape="1">
          <a:blip r:embed="rId4">
            <a:alphaModFix/>
          </a:blip>
          <a:srcRect b="0" l="0" r="0" t="0"/>
          <a:stretch/>
        </p:blipFill>
        <p:spPr>
          <a:xfrm>
            <a:off x="7991935" y="4636030"/>
            <a:ext cx="860314" cy="333891"/>
          </a:xfrm>
          <a:prstGeom prst="rect">
            <a:avLst/>
          </a:prstGeom>
          <a:noFill/>
          <a:ln>
            <a:noFill/>
          </a:ln>
        </p:spPr>
      </p:pic>
      <p:sp>
        <p:nvSpPr>
          <p:cNvPr id="151" name="Google Shape;151;p21"/>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descr="University of Indianapolis logo" id="152" name="Google Shape;152;p21"/>
          <p:cNvPicPr preferRelativeResize="0"/>
          <p:nvPr/>
        </p:nvPicPr>
        <p:blipFill>
          <a:blip r:embed="rId5">
            <a:alphaModFix/>
          </a:blip>
          <a:stretch>
            <a:fillRect/>
          </a:stretch>
        </p:blipFill>
        <p:spPr>
          <a:xfrm>
            <a:off x="291763" y="4727137"/>
            <a:ext cx="3234174" cy="151675"/>
          </a:xfrm>
          <a:prstGeom prst="rect">
            <a:avLst/>
          </a:prstGeom>
          <a:noFill/>
          <a:ln>
            <a:noFill/>
          </a:ln>
        </p:spPr>
      </p:pic>
      <p:pic>
        <p:nvPicPr>
          <p:cNvPr id="153" name="Google Shape;153;p21" title="Screenshot 2026-03-18 at 1.52.33 PM.png"/>
          <p:cNvPicPr preferRelativeResize="0"/>
          <p:nvPr/>
        </p:nvPicPr>
        <p:blipFill>
          <a:blip r:embed="rId6">
            <a:alphaModFix/>
          </a:blip>
          <a:stretch>
            <a:fillRect/>
          </a:stretch>
        </p:blipFill>
        <p:spPr>
          <a:xfrm>
            <a:off x="3399375" y="80250"/>
            <a:ext cx="5744624" cy="4460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descr="Slide title" id="159" name="Google Shape;159;p22"/>
          <p:cNvSpPr txBox="1"/>
          <p:nvPr/>
        </p:nvSpPr>
        <p:spPr>
          <a:xfrm>
            <a:off x="172150" y="723500"/>
            <a:ext cx="2896500" cy="11448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Neural Network</a:t>
            </a:r>
            <a:endParaRPr sz="4200">
              <a:solidFill>
                <a:schemeClr val="lt1"/>
              </a:solidFill>
              <a:latin typeface="Teko"/>
              <a:ea typeface="Teko"/>
              <a:cs typeface="Teko"/>
              <a:sym typeface="Teko"/>
            </a:endParaRPr>
          </a:p>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Training Loss</a:t>
            </a:r>
            <a:endParaRPr sz="4200">
              <a:solidFill>
                <a:schemeClr val="lt1"/>
              </a:solidFill>
              <a:latin typeface="Teko"/>
              <a:ea typeface="Teko"/>
              <a:cs typeface="Teko"/>
              <a:sym typeface="Teko"/>
            </a:endParaRPr>
          </a:p>
        </p:txBody>
      </p:sp>
      <p:cxnSp>
        <p:nvCxnSpPr>
          <p:cNvPr id="160" name="Google Shape;160;p22"/>
          <p:cNvCxnSpPr/>
          <p:nvPr/>
        </p:nvCxnSpPr>
        <p:spPr>
          <a:xfrm>
            <a:off x="-16700" y="1259250"/>
            <a:ext cx="3274200" cy="0"/>
          </a:xfrm>
          <a:prstGeom prst="straightConnector1">
            <a:avLst/>
          </a:prstGeom>
          <a:noFill/>
          <a:ln cap="flat" cmpd="sng" w="28575">
            <a:solidFill>
              <a:schemeClr val="lt1"/>
            </a:solidFill>
            <a:prstDash val="solid"/>
            <a:round/>
            <a:headEnd len="med" w="med" type="none"/>
            <a:tailEnd len="med" w="med" type="none"/>
          </a:ln>
        </p:spPr>
      </p:cxnSp>
      <p:pic>
        <p:nvPicPr>
          <p:cNvPr descr="Hound logo" id="161" name="Google Shape;161;p22"/>
          <p:cNvPicPr preferRelativeResize="0"/>
          <p:nvPr/>
        </p:nvPicPr>
        <p:blipFill rotWithShape="1">
          <a:blip r:embed="rId4">
            <a:alphaModFix/>
          </a:blip>
          <a:srcRect b="0" l="0" r="0" t="0"/>
          <a:stretch/>
        </p:blipFill>
        <p:spPr>
          <a:xfrm>
            <a:off x="7991935" y="4636030"/>
            <a:ext cx="860314" cy="333891"/>
          </a:xfrm>
          <a:prstGeom prst="rect">
            <a:avLst/>
          </a:prstGeom>
          <a:noFill/>
          <a:ln>
            <a:noFill/>
          </a:ln>
        </p:spPr>
      </p:pic>
      <p:sp>
        <p:nvSpPr>
          <p:cNvPr id="162" name="Google Shape;162;p22"/>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descr="University of Indianapolis logo" id="163" name="Google Shape;163;p22"/>
          <p:cNvPicPr preferRelativeResize="0"/>
          <p:nvPr/>
        </p:nvPicPr>
        <p:blipFill>
          <a:blip r:embed="rId5">
            <a:alphaModFix/>
          </a:blip>
          <a:stretch>
            <a:fillRect/>
          </a:stretch>
        </p:blipFill>
        <p:spPr>
          <a:xfrm>
            <a:off x="291763" y="4727137"/>
            <a:ext cx="3234174" cy="151675"/>
          </a:xfrm>
          <a:prstGeom prst="rect">
            <a:avLst/>
          </a:prstGeom>
          <a:noFill/>
          <a:ln>
            <a:noFill/>
          </a:ln>
        </p:spPr>
      </p:pic>
      <p:pic>
        <p:nvPicPr>
          <p:cNvPr id="164" name="Google Shape;164;p22" title="Screenshot 2026-03-18 at 1.30.36 PM.png"/>
          <p:cNvPicPr preferRelativeResize="0"/>
          <p:nvPr/>
        </p:nvPicPr>
        <p:blipFill>
          <a:blip r:embed="rId6">
            <a:alphaModFix/>
          </a:blip>
          <a:stretch>
            <a:fillRect/>
          </a:stretch>
        </p:blipFill>
        <p:spPr>
          <a:xfrm>
            <a:off x="3328050" y="114375"/>
            <a:ext cx="5698749" cy="44826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descr="Slide title" id="170" name="Google Shape;170;p23"/>
          <p:cNvSpPr txBox="1"/>
          <p:nvPr/>
        </p:nvSpPr>
        <p:spPr>
          <a:xfrm>
            <a:off x="745350" y="520350"/>
            <a:ext cx="2896500" cy="7389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Results</a:t>
            </a:r>
            <a:endParaRPr sz="4200">
              <a:solidFill>
                <a:schemeClr val="lt1"/>
              </a:solidFill>
              <a:latin typeface="Teko"/>
              <a:ea typeface="Teko"/>
              <a:cs typeface="Teko"/>
              <a:sym typeface="Teko"/>
            </a:endParaRPr>
          </a:p>
        </p:txBody>
      </p:sp>
      <p:cxnSp>
        <p:nvCxnSpPr>
          <p:cNvPr id="171" name="Google Shape;171;p23"/>
          <p:cNvCxnSpPr/>
          <p:nvPr/>
        </p:nvCxnSpPr>
        <p:spPr>
          <a:xfrm>
            <a:off x="-16700" y="1259250"/>
            <a:ext cx="3274200" cy="0"/>
          </a:xfrm>
          <a:prstGeom prst="straightConnector1">
            <a:avLst/>
          </a:prstGeom>
          <a:noFill/>
          <a:ln cap="flat" cmpd="sng" w="28575">
            <a:solidFill>
              <a:schemeClr val="lt1"/>
            </a:solidFill>
            <a:prstDash val="solid"/>
            <a:round/>
            <a:headEnd len="med" w="med" type="none"/>
            <a:tailEnd len="med" w="med" type="none"/>
          </a:ln>
        </p:spPr>
      </p:cxnSp>
      <p:sp>
        <p:nvSpPr>
          <p:cNvPr descr="Slide description" id="172" name="Google Shape;172;p23"/>
          <p:cNvSpPr txBox="1"/>
          <p:nvPr/>
        </p:nvSpPr>
        <p:spPr>
          <a:xfrm>
            <a:off x="745350" y="1636825"/>
            <a:ext cx="7832400" cy="23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1"/>
                </a:solidFill>
                <a:latin typeface="Proxima Nova"/>
                <a:ea typeface="Proxima Nova"/>
                <a:cs typeface="Proxima Nova"/>
                <a:sym typeface="Proxima Nova"/>
              </a:rPr>
              <a:t>Logistic Regression </a:t>
            </a:r>
            <a:r>
              <a:rPr lang="en" sz="1900">
                <a:solidFill>
                  <a:schemeClr val="lt1"/>
                </a:solidFill>
                <a:latin typeface="Proxima Nova Semibold"/>
                <a:ea typeface="Proxima Nova Semibold"/>
                <a:cs typeface="Proxima Nova Semibold"/>
                <a:sym typeface="Proxima Nova Semibold"/>
              </a:rPr>
              <a:t>				   →  		99.91% (0.9991)</a:t>
            </a:r>
            <a:endParaRPr sz="19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900">
                <a:solidFill>
                  <a:schemeClr val="lt1"/>
                </a:solidFill>
                <a:latin typeface="Proxima Nova Semibold"/>
                <a:ea typeface="Proxima Nova Semibold"/>
                <a:cs typeface="Proxima Nova Semibold"/>
                <a:sym typeface="Proxima Nova Semibold"/>
              </a:rPr>
              <a:t>(8 seconds)</a:t>
            </a:r>
            <a:endParaRPr sz="19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19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19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b="1" lang="en" sz="1900">
                <a:solidFill>
                  <a:schemeClr val="lt1"/>
                </a:solidFill>
                <a:latin typeface="Proxima Nova"/>
                <a:ea typeface="Proxima Nova"/>
                <a:cs typeface="Proxima Nova"/>
                <a:sym typeface="Proxima Nova"/>
              </a:rPr>
              <a:t>Neural Network (Confusion Matrix)</a:t>
            </a:r>
            <a:r>
              <a:rPr lang="en" sz="1900">
                <a:solidFill>
                  <a:schemeClr val="lt1"/>
                </a:solidFill>
                <a:latin typeface="Proxima Nova Semibold"/>
                <a:ea typeface="Proxima Nova Semibold"/>
                <a:cs typeface="Proxima Nova Semibold"/>
                <a:sym typeface="Proxima Nova Semibold"/>
              </a:rPr>
              <a:t> →  	Accuracy = 0.9994</a:t>
            </a:r>
            <a:endParaRPr sz="1900">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1900">
                <a:solidFill>
                  <a:schemeClr val="lt1"/>
                </a:solidFill>
                <a:latin typeface="Proxima Nova Semibold"/>
                <a:ea typeface="Proxima Nova Semibold"/>
                <a:cs typeface="Proxima Nova Semibold"/>
                <a:sym typeface="Proxima Nova Semibold"/>
              </a:rPr>
              <a:t>(46 seconds)							Precision = 0.8810</a:t>
            </a:r>
            <a:endParaRPr sz="1900">
              <a:solidFill>
                <a:schemeClr val="lt1"/>
              </a:solidFill>
              <a:latin typeface="Proxima Nova Semibold"/>
              <a:ea typeface="Proxima Nova Semibold"/>
              <a:cs typeface="Proxima Nova Semibold"/>
              <a:sym typeface="Proxima Nova Semibold"/>
            </a:endParaRPr>
          </a:p>
          <a:p>
            <a:pPr indent="457200" lvl="0" marL="4114800" rtl="0" algn="l">
              <a:spcBef>
                <a:spcPts val="0"/>
              </a:spcBef>
              <a:spcAft>
                <a:spcPts val="0"/>
              </a:spcAft>
              <a:buNone/>
            </a:pPr>
            <a:r>
              <a:rPr lang="en" sz="1900">
                <a:solidFill>
                  <a:schemeClr val="lt1"/>
                </a:solidFill>
                <a:latin typeface="Proxima Nova Semibold"/>
                <a:ea typeface="Proxima Nova Semibold"/>
                <a:cs typeface="Proxima Nova Semibold"/>
                <a:sym typeface="Proxima Nova Semibold"/>
              </a:rPr>
              <a:t>Recall 	  = 0.7551</a:t>
            </a:r>
            <a:endParaRPr sz="1900">
              <a:solidFill>
                <a:schemeClr val="lt1"/>
              </a:solidFill>
              <a:latin typeface="Proxima Nova Semibold"/>
              <a:ea typeface="Proxima Nova Semibold"/>
              <a:cs typeface="Proxima Nova Semibold"/>
              <a:sym typeface="Proxima Nova Semibold"/>
            </a:endParaRPr>
          </a:p>
          <a:p>
            <a:pPr indent="457200" lvl="0" marL="4114800" rtl="0" algn="l">
              <a:spcBef>
                <a:spcPts val="0"/>
              </a:spcBef>
              <a:spcAft>
                <a:spcPts val="0"/>
              </a:spcAft>
              <a:buNone/>
            </a:pPr>
            <a:r>
              <a:rPr lang="en" sz="1900">
                <a:solidFill>
                  <a:schemeClr val="lt1"/>
                </a:solidFill>
                <a:latin typeface="Proxima Nova Semibold"/>
                <a:ea typeface="Proxima Nova Semibold"/>
                <a:cs typeface="Proxima Nova Semibold"/>
                <a:sym typeface="Proxima Nova Semibold"/>
              </a:rPr>
              <a:t>F1 Score  = 0.8132</a:t>
            </a:r>
            <a:endParaRPr sz="1900">
              <a:solidFill>
                <a:schemeClr val="lt1"/>
              </a:solidFill>
              <a:latin typeface="Proxima Nova Semibold"/>
              <a:ea typeface="Proxima Nova Semibold"/>
              <a:cs typeface="Proxima Nova Semibold"/>
              <a:sym typeface="Proxima Nova Semibold"/>
            </a:endParaRPr>
          </a:p>
        </p:txBody>
      </p:sp>
      <p:pic>
        <p:nvPicPr>
          <p:cNvPr descr="Hound logo" id="173" name="Google Shape;173;p23"/>
          <p:cNvPicPr preferRelativeResize="0"/>
          <p:nvPr/>
        </p:nvPicPr>
        <p:blipFill rotWithShape="1">
          <a:blip r:embed="rId4">
            <a:alphaModFix/>
          </a:blip>
          <a:srcRect b="0" l="0" r="0" t="0"/>
          <a:stretch/>
        </p:blipFill>
        <p:spPr>
          <a:xfrm>
            <a:off x="7991935" y="4636030"/>
            <a:ext cx="860314" cy="333891"/>
          </a:xfrm>
          <a:prstGeom prst="rect">
            <a:avLst/>
          </a:prstGeom>
          <a:noFill/>
          <a:ln>
            <a:noFill/>
          </a:ln>
        </p:spPr>
      </p:pic>
      <p:sp>
        <p:nvSpPr>
          <p:cNvPr id="174" name="Google Shape;174;p23"/>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descr="University of Indianapolis logo" id="175" name="Google Shape;175;p23"/>
          <p:cNvPicPr preferRelativeResize="0"/>
          <p:nvPr/>
        </p:nvPicPr>
        <p:blipFill>
          <a:blip r:embed="rId5">
            <a:alphaModFix/>
          </a:blip>
          <a:stretch>
            <a:fillRect/>
          </a:stretch>
        </p:blipFill>
        <p:spPr>
          <a:xfrm>
            <a:off x="291763" y="4727137"/>
            <a:ext cx="3234174" cy="151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descr="Slide title" id="181" name="Google Shape;181;p24"/>
          <p:cNvSpPr txBox="1"/>
          <p:nvPr/>
        </p:nvSpPr>
        <p:spPr>
          <a:xfrm>
            <a:off x="367650" y="520350"/>
            <a:ext cx="3775500" cy="7389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lang="en" sz="4200">
                <a:solidFill>
                  <a:schemeClr val="lt1"/>
                </a:solidFill>
                <a:latin typeface="Teko"/>
                <a:ea typeface="Teko"/>
                <a:cs typeface="Teko"/>
                <a:sym typeface="Teko"/>
              </a:rPr>
              <a:t>Overall Conclusions:</a:t>
            </a:r>
            <a:endParaRPr sz="4200">
              <a:solidFill>
                <a:schemeClr val="lt1"/>
              </a:solidFill>
              <a:latin typeface="Teko"/>
              <a:ea typeface="Teko"/>
              <a:cs typeface="Teko"/>
              <a:sym typeface="Teko"/>
            </a:endParaRPr>
          </a:p>
        </p:txBody>
      </p:sp>
      <p:cxnSp>
        <p:nvCxnSpPr>
          <p:cNvPr id="182" name="Google Shape;182;p24"/>
          <p:cNvCxnSpPr/>
          <p:nvPr/>
        </p:nvCxnSpPr>
        <p:spPr>
          <a:xfrm>
            <a:off x="-16700" y="1259250"/>
            <a:ext cx="3274200" cy="0"/>
          </a:xfrm>
          <a:prstGeom prst="straightConnector1">
            <a:avLst/>
          </a:prstGeom>
          <a:noFill/>
          <a:ln cap="flat" cmpd="sng" w="28575">
            <a:solidFill>
              <a:schemeClr val="lt1"/>
            </a:solidFill>
            <a:prstDash val="solid"/>
            <a:round/>
            <a:headEnd len="med" w="med" type="none"/>
            <a:tailEnd len="med" w="med" type="none"/>
          </a:ln>
        </p:spPr>
      </p:cxnSp>
      <p:sp>
        <p:nvSpPr>
          <p:cNvPr descr="Slide description" id="183" name="Google Shape;183;p24"/>
          <p:cNvSpPr txBox="1"/>
          <p:nvPr/>
        </p:nvSpPr>
        <p:spPr>
          <a:xfrm>
            <a:off x="367650" y="1507650"/>
            <a:ext cx="7988700" cy="27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Key Takeaways:</a:t>
            </a:r>
            <a:endParaRPr>
              <a:solidFill>
                <a:schemeClr val="lt1"/>
              </a:solidFill>
              <a:latin typeface="Proxima Nova Semibold"/>
              <a:ea typeface="Proxima Nova Semibold"/>
              <a:cs typeface="Proxima Nova Semibold"/>
              <a:sym typeface="Proxima Nova Semibold"/>
            </a:endParaRPr>
          </a:p>
          <a:p>
            <a:pPr indent="-317500" lvl="0" marL="914400" rtl="0" algn="l">
              <a:spcBef>
                <a:spcPts val="0"/>
              </a:spcBef>
              <a:spcAft>
                <a:spcPts val="0"/>
              </a:spcAft>
              <a:buClr>
                <a:schemeClr val="lt1"/>
              </a:buClr>
              <a:buSzPts val="1400"/>
              <a:buFont typeface="Proxima Nova Semibold"/>
              <a:buChar char="●"/>
            </a:pPr>
            <a:r>
              <a:rPr lang="en">
                <a:solidFill>
                  <a:schemeClr val="lt1"/>
                </a:solidFill>
                <a:latin typeface="Proxima Nova Semibold"/>
                <a:ea typeface="Proxima Nova Semibold"/>
                <a:cs typeface="Proxima Nova Semibold"/>
                <a:sym typeface="Proxima Nova Semibold"/>
              </a:rPr>
              <a:t>Machine Learning CAN detect fraudulent transactions.</a:t>
            </a:r>
            <a:endParaRPr>
              <a:solidFill>
                <a:schemeClr val="lt1"/>
              </a:solidFill>
              <a:latin typeface="Proxima Nova Semibold"/>
              <a:ea typeface="Proxima Nova Semibold"/>
              <a:cs typeface="Proxima Nova Semibold"/>
              <a:sym typeface="Proxima Nova Semibold"/>
            </a:endParaRPr>
          </a:p>
          <a:p>
            <a:pPr indent="-317500" lvl="0" marL="914400" rtl="0" algn="l">
              <a:spcBef>
                <a:spcPts val="0"/>
              </a:spcBef>
              <a:spcAft>
                <a:spcPts val="0"/>
              </a:spcAft>
              <a:buClr>
                <a:schemeClr val="lt1"/>
              </a:buClr>
              <a:buSzPts val="1400"/>
              <a:buFont typeface="Proxima Nova Semibold"/>
              <a:buChar char="●"/>
            </a:pPr>
            <a:r>
              <a:rPr lang="en">
                <a:solidFill>
                  <a:schemeClr val="lt1"/>
                </a:solidFill>
                <a:latin typeface="Proxima Nova Semibold"/>
                <a:ea typeface="Proxima Nova Semibold"/>
                <a:cs typeface="Proxima Nova Semibold"/>
                <a:sym typeface="Proxima Nova Semibold"/>
              </a:rPr>
              <a:t>Neural Networks are well-suited for capturing complex patterns.</a:t>
            </a:r>
            <a:endParaRPr>
              <a:solidFill>
                <a:schemeClr val="lt1"/>
              </a:solidFill>
              <a:latin typeface="Proxima Nova Semibold"/>
              <a:ea typeface="Proxima Nova Semibold"/>
              <a:cs typeface="Proxima Nova Semibold"/>
              <a:sym typeface="Proxima Nova Semibold"/>
            </a:endParaRPr>
          </a:p>
          <a:p>
            <a:pPr indent="-317500" lvl="0" marL="914400" rtl="0" algn="l">
              <a:spcBef>
                <a:spcPts val="0"/>
              </a:spcBef>
              <a:spcAft>
                <a:spcPts val="0"/>
              </a:spcAft>
              <a:buClr>
                <a:schemeClr val="lt1"/>
              </a:buClr>
              <a:buSzPts val="1400"/>
              <a:buFont typeface="Proxima Nova Semibold"/>
              <a:buChar char="●"/>
            </a:pPr>
            <a:r>
              <a:rPr lang="en">
                <a:solidFill>
                  <a:schemeClr val="lt1"/>
                </a:solidFill>
                <a:latin typeface="Proxima Nova Semibold"/>
                <a:ea typeface="Proxima Nova Semibold"/>
                <a:cs typeface="Proxima Nova Semibold"/>
                <a:sym typeface="Proxima Nova Semibold"/>
              </a:rPr>
              <a:t>A large class imbalance makes fraud detection challenging.</a:t>
            </a:r>
            <a:endParaRPr>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a:solidFill>
                <a:schemeClr val="lt1"/>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Potential Future Improvements:</a:t>
            </a:r>
            <a:endParaRPr b="1">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Semibold"/>
              <a:buChar char="●"/>
            </a:pPr>
            <a:r>
              <a:rPr lang="en">
                <a:solidFill>
                  <a:schemeClr val="lt1"/>
                </a:solidFill>
                <a:latin typeface="Proxima Nova Semibold"/>
                <a:ea typeface="Proxima Nova Semibold"/>
                <a:cs typeface="Proxima Nova Semibold"/>
                <a:sym typeface="Proxima Nova Semibold"/>
              </a:rPr>
              <a:t>Oversampling fraud cases,</a:t>
            </a:r>
            <a:endParaRPr>
              <a:solidFill>
                <a:schemeClr val="lt1"/>
              </a:solidFill>
              <a:latin typeface="Proxima Nova Semibold"/>
              <a:ea typeface="Proxima Nova Semibold"/>
              <a:cs typeface="Proxima Nova Semibold"/>
              <a:sym typeface="Proxima Nova Semibold"/>
            </a:endParaRPr>
          </a:p>
          <a:p>
            <a:pPr indent="-317500" lvl="0" marL="457200" rtl="0" algn="l">
              <a:spcBef>
                <a:spcPts val="0"/>
              </a:spcBef>
              <a:spcAft>
                <a:spcPts val="0"/>
              </a:spcAft>
              <a:buClr>
                <a:schemeClr val="lt1"/>
              </a:buClr>
              <a:buSzPts val="1400"/>
              <a:buFont typeface="Proxima Nova Semibold"/>
              <a:buChar char="●"/>
            </a:pPr>
            <a:r>
              <a:rPr lang="en">
                <a:solidFill>
                  <a:schemeClr val="lt1"/>
                </a:solidFill>
                <a:latin typeface="Proxima Nova Semibold"/>
                <a:ea typeface="Proxima Nova Semibold"/>
                <a:cs typeface="Proxima Nova Semibold"/>
                <a:sym typeface="Proxima Nova Semibold"/>
              </a:rPr>
              <a:t>Adjusting decision thresholds,</a:t>
            </a:r>
            <a:endParaRPr>
              <a:solidFill>
                <a:schemeClr val="lt1"/>
              </a:solidFill>
              <a:latin typeface="Proxima Nova Semibold"/>
              <a:ea typeface="Proxima Nova Semibold"/>
              <a:cs typeface="Proxima Nova Semibold"/>
              <a:sym typeface="Proxima Nova Semibold"/>
            </a:endParaRPr>
          </a:p>
          <a:p>
            <a:pPr indent="-317500" lvl="0" marL="457200" rtl="0" algn="l">
              <a:spcBef>
                <a:spcPts val="0"/>
              </a:spcBef>
              <a:spcAft>
                <a:spcPts val="0"/>
              </a:spcAft>
              <a:buClr>
                <a:schemeClr val="lt1"/>
              </a:buClr>
              <a:buSzPts val="1400"/>
              <a:buFont typeface="Proxima Nova Semibold"/>
              <a:buChar char="●"/>
            </a:pPr>
            <a:r>
              <a:rPr lang="en">
                <a:solidFill>
                  <a:schemeClr val="lt1"/>
                </a:solidFill>
                <a:latin typeface="Proxima Nova Semibold"/>
                <a:ea typeface="Proxima Nova Semibold"/>
                <a:cs typeface="Proxima Nova Semibold"/>
                <a:sym typeface="Proxima Nova Semibold"/>
              </a:rPr>
              <a:t>And crafting more advanced models.</a:t>
            </a:r>
            <a:endParaRPr>
              <a:solidFill>
                <a:schemeClr val="lt1"/>
              </a:solidFill>
              <a:latin typeface="Proxima Nova Semibold"/>
              <a:ea typeface="Proxima Nova Semibold"/>
              <a:cs typeface="Proxima Nova Semibold"/>
              <a:sym typeface="Proxima Nova Semibold"/>
            </a:endParaRPr>
          </a:p>
        </p:txBody>
      </p:sp>
      <p:pic>
        <p:nvPicPr>
          <p:cNvPr descr="Hound logo" id="184" name="Google Shape;184;p24"/>
          <p:cNvPicPr preferRelativeResize="0"/>
          <p:nvPr/>
        </p:nvPicPr>
        <p:blipFill rotWithShape="1">
          <a:blip r:embed="rId4">
            <a:alphaModFix/>
          </a:blip>
          <a:srcRect b="0" l="0" r="0" t="0"/>
          <a:stretch/>
        </p:blipFill>
        <p:spPr>
          <a:xfrm>
            <a:off x="7991935" y="4636030"/>
            <a:ext cx="860314" cy="333891"/>
          </a:xfrm>
          <a:prstGeom prst="rect">
            <a:avLst/>
          </a:prstGeom>
          <a:noFill/>
          <a:ln>
            <a:noFill/>
          </a:ln>
        </p:spPr>
      </p:pic>
      <p:sp>
        <p:nvSpPr>
          <p:cNvPr id="185" name="Google Shape;185;p24"/>
          <p:cNvSpPr/>
          <p:nvPr/>
        </p:nvSpPr>
        <p:spPr>
          <a:xfrm>
            <a:off x="8061158" y="5137445"/>
            <a:ext cx="1082841" cy="6055"/>
          </a:xfrm>
          <a:custGeom>
            <a:rect b="b" l="l" r="r" t="t"/>
            <a:pathLst>
              <a:path extrusionOk="0" h="8073" w="1443788">
                <a:moveTo>
                  <a:pt x="0" y="0"/>
                </a:moveTo>
                <a:lnTo>
                  <a:pt x="1443788" y="0"/>
                </a:lnTo>
                <a:lnTo>
                  <a:pt x="1443788" y="8073"/>
                </a:lnTo>
                <a:lnTo>
                  <a:pt x="0" y="8073"/>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descr="University of Indianapolis logo" id="186" name="Google Shape;186;p24"/>
          <p:cNvPicPr preferRelativeResize="0"/>
          <p:nvPr/>
        </p:nvPicPr>
        <p:blipFill>
          <a:blip r:embed="rId5">
            <a:alphaModFix/>
          </a:blip>
          <a:stretch>
            <a:fillRect/>
          </a:stretch>
        </p:blipFill>
        <p:spPr>
          <a:xfrm>
            <a:off x="291763" y="4727137"/>
            <a:ext cx="3234174" cy="151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